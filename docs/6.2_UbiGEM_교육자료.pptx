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12192000"/>
  <p:notesSz cx="6742100" cy="9875825"/>
  <p:embeddedFontLst>
    <p:embeddedFont>
      <p:font typeface="Overlock"/>
      <p:regular r:id="rId39"/>
      <p:bold r:id="rId40"/>
      <p:italic r:id="rId41"/>
      <p:boldItalic r:id="rId42"/>
    </p:embeddedFont>
    <p:embeddedFont>
      <p:font typeface="Arial Black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jAvexfmNnHx3IuiAIN3gYiugPP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verlock-bold.fntdata"/><Relationship Id="rId20" Type="http://schemas.openxmlformats.org/officeDocument/2006/relationships/slide" Target="slides/slide16.xml"/><Relationship Id="rId42" Type="http://schemas.openxmlformats.org/officeDocument/2006/relationships/font" Target="fonts/Overlock-boldItalic.fntdata"/><Relationship Id="rId41" Type="http://schemas.openxmlformats.org/officeDocument/2006/relationships/font" Target="fonts/Overlock-italic.fntdata"/><Relationship Id="rId22" Type="http://schemas.openxmlformats.org/officeDocument/2006/relationships/slide" Target="slides/slide18.xml"/><Relationship Id="rId44" Type="http://customschemas.google.com/relationships/presentationmetadata" Target="metadata"/><Relationship Id="rId21" Type="http://schemas.openxmlformats.org/officeDocument/2006/relationships/slide" Target="slides/slide17.xml"/><Relationship Id="rId43" Type="http://schemas.openxmlformats.org/officeDocument/2006/relationships/font" Target="fonts/ArialBlack-regular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Overlock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21582" cy="495507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18971" y="0"/>
            <a:ext cx="2921582" cy="495507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411163" y="4752747"/>
            <a:ext cx="5921375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LG 대응사가 아니면 5번을 제외하고 파일을 하나 더 만들어서 교육자료로 만들 것.</a:t>
            </a:r>
            <a:endParaRPr/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411163" y="4752747"/>
            <a:ext cx="5921375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먼저 SECS(섹)과 GEM의 개요에 대해서 말씀드리도록 하겠습니다.</a:t>
            </a:r>
            <a:endParaRPr/>
          </a:p>
        </p:txBody>
      </p:sp>
      <p:sp>
        <p:nvSpPr>
          <p:cNvPr id="130" name="Google Shape;130;p3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458012" y="4677641"/>
            <a:ext cx="5827596" cy="4702692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반도체 공장이 생기기 시작했을 때, 공장에 입고된 생산 설비들 여러 종류들이 있었는데, 물리적인 인터페이스와 논리적인 프로토콜이 전부 제각각이었습니다.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그래서 SEMI라는 국제 반도체 장비재료 협회를 만들고, 표준안을 만들어서 host와 설비들간의 통신 규약으로 표준화를 하였습니다.</a:t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458012" y="4677641"/>
            <a:ext cx="5827596" cy="4702692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SEMI에는 E4, E37, E5, E30을 포함한 2,000여개의 표준이 있지만, 저희는 GEM에 대해서 설명드리려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E4와 E37은 물리적인 내용을 규정하고, E5와 E30은 소프트웨어적인 내용을 규정하고 있습니다. E5와 E30을 중점적으로 보시면 되는데, E5는 프로토콜의 구조이며, E30은 시나리오 구조를 규정합니다.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반도체 생산라인에서 공정추적이나 이력관리를 위해 GEM을 적용하였고, 이후 2,000년대 중반 이후부터는 일반 생산라인에서도 공정추적이나 이력관리의 필요성이 대두되어 GEM을 적용하며, 중규모 이상에서는 필수적으로 GEM을 사용하고 있습니다.</a:t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411163" y="4752747"/>
            <a:ext cx="5921375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E5(SECS-II)의 메시지 내용에서 S6F11,S6F12 이런 구조를 볼 수 있는데,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S는 Stream의 S이며, 유사한 특성을 갖는 메시지들의 그룹이고, 1~127까지 사용할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F는 Function의 F이며, Stream 내에서 특정한 기능을 하는 메시지를 가르키고, 0~255까지 사용할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Stream의 숫자가 function 번호에 비해서 ½인 이유는 1비트를 wait bit로 사용하기 때문에, 사용할 수 있는 비트수가 줄어들기 때문입니다.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Primary message는 Function 번호가 모두 </a:t>
            </a:r>
            <a:r>
              <a:rPr b="1" lang="en-US"/>
              <a:t>홀수</a:t>
            </a:r>
            <a:r>
              <a:rPr lang="en-US"/>
              <a:t>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Secondary message의 Function 번호는 Primary message의 Function 번호에 1을 더한 값으로 모두 </a:t>
            </a:r>
            <a:r>
              <a:rPr b="1" lang="en-US"/>
              <a:t>짝수</a:t>
            </a:r>
            <a:r>
              <a:rPr lang="en-US"/>
              <a:t>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 번호 SxF0은 메시지 Transaction 취소를 위해 예약되어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 번호에 대해 간단히 설명 드리자면,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S1은 통신</a:t>
            </a:r>
            <a:br>
              <a:rPr lang="en-US"/>
            </a:br>
            <a:r>
              <a:rPr lang="en-US"/>
              <a:t>S2는 Host가 EQP 생산 환경에 맞춰 event 보고에 사용되는 데이터 설정</a:t>
            </a:r>
            <a:br>
              <a:rPr lang="en-US"/>
            </a:br>
            <a:r>
              <a:rPr lang="en-US"/>
              <a:t>S5는 EQP -&gt; HOST 알람 설정, 물리적인 에러 (설비 문제)</a:t>
            </a:r>
            <a:br>
              <a:rPr lang="en-US"/>
            </a:br>
            <a:r>
              <a:rPr lang="en-US"/>
              <a:t>S6은 알람 제외한 EQP -&gt; HOST 표준 메시지</a:t>
            </a:r>
            <a:br>
              <a:rPr lang="en-US"/>
            </a:br>
            <a:r>
              <a:rPr lang="en-US"/>
              <a:t>S7은 레시피 / PP(process program)</a:t>
            </a:r>
            <a:br>
              <a:rPr lang="en-US"/>
            </a:br>
            <a:r>
              <a:rPr lang="en-US"/>
              <a:t>S9는 통신상 에러</a:t>
            </a:r>
            <a:br>
              <a:rPr lang="en-US"/>
            </a:br>
            <a:r>
              <a:rPr lang="en-US"/>
              <a:t>S10은 채팅(장비 터미널에 텍스트 메시지를 전달)</a:t>
            </a:r>
            <a:br>
              <a:rPr lang="en-US"/>
            </a:br>
            <a:r>
              <a:rPr lang="en-US"/>
              <a:t>S12는 확장형 / Wafer Mapping</a:t>
            </a:r>
            <a:br>
              <a:rPr lang="en-US"/>
            </a:br>
            <a:r>
              <a:rPr lang="en-US"/>
              <a:t>S14는 확장형 / Unformatted Data Set Transfers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S12,14는 특별한 경우가 아니면, 사용할 경우가 드뭅니다.</a:t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411163" y="4752747"/>
            <a:ext cx="5921375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CE는 Collection Events로 어떤 상태가 전환 시 보고하는 이벤트이고,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R은 report로 연관된 vid들을 보고하고,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V는 Variables로 EC, SV, DV 총 3가지가 포함되어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EC는 Equipment Constansts로 장비상수이며, 초기값이고, 꺼졌다 켜져도 유지됩니다.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SV는 Status Variables로 상태변수이며, 현재 상태값으로 항상 유효한 값을 나타내고, 가동중일 때는 값이 유지되며, 보고랑은 상관이 없습니다.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DV는 Data Variables로 데이터 변수이며, 특점시점(데이터가 보고될 때)에서는 데이터가 유효해도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 : R : V 는 N : N : N입니다.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간단히 설명하자면, CEID에 포함된 report ID가 다른 CEID에도 포함이 될 수 있습니다. Report 와 variables의 관계도 동일합니다.</a:t>
            </a:r>
            <a:endParaRPr/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411163" y="4752747"/>
            <a:ext cx="5921375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저희 ubiGEM에 대해 간단히 설명하겠습니다.</a:t>
            </a:r>
            <a:endParaRPr/>
          </a:p>
        </p:txBody>
      </p:sp>
      <p:sp>
        <p:nvSpPr>
          <p:cNvPr id="234" name="Google Shape;234;p8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411163" y="4752747"/>
            <a:ext cx="5921375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UbiGem은 반도체, 평판 디스플레이 및 LED 장비의 GEM을 간편하고 직관적으로 사용할 수 있도록 지원하는 통신 드라이버로, GEM 시나리오의 각종 Event/Data를 설정 툴로 정의하여 UbiGEM Driver에서 자동 수행 되므로 개발 생산성이 향상됩니다.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Host Simulator를 제공하여 개발과 운영/유지 보수에 효율성을 극대화한 솔루션 패키지입니다.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SEMI의 SECS 사양을 기반으로 만들어져 있으며, 소프트웨어 요구사항은 Microsoft .NET Framework 4.5 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458012" y="4752747"/>
            <a:ext cx="5827596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Configuration에는 크게 총 5가지 설정을 할 수 있는데,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GEM Configurations의 Driver는 나중에 설명 드리고,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 Configuration의 Driver부터 먼저 설명 드리도록 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458012" y="4752747"/>
            <a:ext cx="5827596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 configuration에는 7가지 로그 설정이 있는데,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SECS-I,II,HSMS,GEM Log는 Log File 분리방법 설정입니다.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 Expire Day는 SECS Log 유지할 기간을 설정할 수 있고,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기간이 넘으면 자동으로 삭제됩니다.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 Directory는 Log가 저장될 root Directory를 설정할 수 있습니다.</a:t>
            </a:r>
            <a:endParaRPr/>
          </a:p>
        </p:txBody>
      </p:sp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458012" y="4752747"/>
            <a:ext cx="5827596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오른쪽 위에 있던 SECS Configurations안에는 Driver, HSMS, Timeout 총 3가지 설정에서 먼저 Driver부터 차례대로 설명을 드리겠습니다.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Driver에는 Driver Name 기입해주시고,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통신에 안정성에 대해서 많은 안전장치를 해놨는데, 그 중 하나가 디바이스 아이디이며, Host와 eqp의 디바이스 아이디가 다를 경우, 통신을 끊어야하는데 드라이버에서 자동으로 처리합니다.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Sync Mode(씽크 모드)는 동기식, 비동기식으로 올라오느냐에 대한 설정이고, 왠만해서는 동기식으로 사용하시는 걸 추천드립니다.</a:t>
            </a:r>
            <a:endParaRPr/>
          </a:p>
        </p:txBody>
      </p:sp>
      <p:sp>
        <p:nvSpPr>
          <p:cNvPr id="284" name="Google Shape;284;p13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4:notes"/>
          <p:cNvSpPr txBox="1"/>
          <p:nvPr>
            <p:ph idx="1" type="body"/>
          </p:nvPr>
        </p:nvSpPr>
        <p:spPr>
          <a:xfrm>
            <a:off x="458012" y="4752747"/>
            <a:ext cx="5827596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다음의 HSMS 설정의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HSMS Mode는 Passive(패시브)는 소켓 연결을 기다리는 쪽, Active는 통신을 연결하는 쪽으로, 보통은 EQP가 Passive(패시브)인 경우가 많고, 상황에 맞게 설정하시면 됩니다. 그리고 IP, Port도 기입해주시면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클라이언트가 정해져있는 경우, passive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5:notes"/>
          <p:cNvSpPr txBox="1"/>
          <p:nvPr>
            <p:ph idx="1" type="body"/>
          </p:nvPr>
        </p:nvSpPr>
        <p:spPr>
          <a:xfrm>
            <a:off x="458012" y="4752747"/>
            <a:ext cx="5827596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Timeout 설정은 총 6가지 설정이 있는데, T3, T5, T6에 대해서 설명 드리도록 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T3 Timeout은 </a:t>
            </a: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Primary Message의 전송 후 Secondary Message 도착까지의 최대 대기 시간이며, 기본값은 45, 단위는 초로 사용되고, 허용 범위는 1 ~ 120초 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T5 Timeout는 </a:t>
            </a: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TCP/IP 연결 재시도 대기 시간이며, Active쪽에서만 발생합니다.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기본값은 10, 단위는 초로 사용되고, 허용 범위는 1 ~ 240초 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T6 Timeout는 </a:t>
            </a: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Control Transaction의 request부터 response까지의 최대 대기 시간이며, T6 Timeout이 발생한 후, 통신은 끊깁니다. 기본값은 5, 단위는 초로 사용되고, 허용 범위는 1 ~ 240초 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t7,t8은 GEM이 아닌 SECS에서 발생하는 타임아웃이라 신경 쓰지 않으셔도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test는 소켓연결이 정상적인지 확인하는 용도의 타임아웃 입니다.</a:t>
            </a:r>
            <a:endParaRPr/>
          </a:p>
        </p:txBody>
      </p:sp>
      <p:sp>
        <p:nvSpPr>
          <p:cNvPr id="308" name="Google Shape;308;p15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6:notes"/>
          <p:cNvSpPr txBox="1"/>
          <p:nvPr>
            <p:ph idx="1" type="body"/>
          </p:nvPr>
        </p:nvSpPr>
        <p:spPr>
          <a:xfrm>
            <a:off x="458012" y="4752746"/>
            <a:ext cx="5827596" cy="512309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먼저, Control state에 대해 설명 드리겠습니다.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제어상태에는 총 5가지가 있는데, Equipment-Offline(value는1) / Attempt Online(value는2) - offline에서 online으로 가기 전 대기상태 / Host Offline(value는 3) / Online-Local(value는 4) / Online-Remote(value는 5)이고,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GEM에서 규정한 value값이라 변경이 불가합니다.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Offline일때는 설비가 제어권을 가지고 / 호스트로 메시지는 전송되지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Online remote는 host가 제어권을 가지고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Online local은 설비가 제어권을 가지고 / 호스트로 보고됩니다.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정리하자면, 설비에서 발생하는 데이터를 전송 할 건지 여부에 따라서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전송한다면 online / 전송하지 않는다면 offline 이라고 보시면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Offline, online은 통신상태가 아닙니다! 간혹 통신상태라고 알고 계신분들이 있어서 재차 말씀드립니다.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아까 나중에 설명 드리겠다고 했던 부분인데, 지금 설명 드리도록 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먼저 FMT PP Value는 Formatted Process Program의 전송 구조 설정이고, 레시피에 관련된 내용입니다.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GEM 표준에서는 Value만 전송하라고 명시되어있는데, 사용하다보니 불편하고 알아보기가 쉽지 않아서, name, value 쌍으로 사용합니다.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True는 value만 전송하고, false는 name, value 같이 전송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S1F17 (online request) in EQPOffline…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Host에서 offline한 경우(S1F15 offline request)만 S1F17(online request)로 online전환을 할 수 있습니다. 그러나 사양서에 따라 EQP에서 offline 한 경우에도 S1F17 (request online) 을 해야 된다고 규정된 경우가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그런 경우, True로 선택하면 on received request online event가 발생합니다.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7:notes"/>
          <p:cNvSpPr txBox="1"/>
          <p:nvPr>
            <p:ph idx="1" type="body"/>
          </p:nvPr>
        </p:nvSpPr>
        <p:spPr>
          <a:xfrm>
            <a:off x="458012" y="4752747"/>
            <a:ext cx="5827596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Dictionary에서는 CEID, RTID, VID 등 사양서 참고하셔서 포맷을 설정을 변경해주시면 됩니다.</a:t>
            </a:r>
            <a:endParaRPr/>
          </a:p>
        </p:txBody>
      </p:sp>
      <p:sp>
        <p:nvSpPr>
          <p:cNvPr id="331" name="Google Shape;331;p17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8:notes"/>
          <p:cNvSpPr txBox="1"/>
          <p:nvPr>
            <p:ph idx="1" type="body"/>
          </p:nvPr>
        </p:nvSpPr>
        <p:spPr>
          <a:xfrm>
            <a:off x="458012" y="4752746"/>
            <a:ext cx="5827596" cy="46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EC에서는 ECID, ECNAME, Format, ECV, ECDEF 설정을 해주시면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7가지 초기값 설정 상태에 대해 설명 드리도록 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InitCommunicationState는 프로그램이 재시동 시, Communication State 의 초기값을 무엇으로 할 것인지 설정하는 값입니다. VALUE 값은 오른 쪽 위 연필 모양을 클릭하시면 설정하실 수 있습니다. 저희는 Communicating이 7로 초기값이 정해져 있는데, 확인하시고 설정 값을 변경해주시면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EstablishCommunicationsTimeout는 소켓이 연결되고나서 S1F13(Establish Communications Request) 전송을 시도하는 사이의 간격에 대한 값(단위 초)이며, EstablishCommunicationsTimeout의 값(단위 초) 동안 답이 오지않으면 통신을 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InitControlState는 control state의 초기값을 무엇으로 할 것인지 설정하는 값입니다.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TimeFormat은 Time Data 전송 시 Format 설정 값입니다.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OffLineSubState는 사양서에 맞게 설정하시면 됩니다. Online에서 offline으로 전환할 때, 어떤 상태로 갈 것인지 초기값을 정하는 값입니다. HOST는 Host Offline(3)으로 정해져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OnLineFailState도 사양서에 맞게 설정하시면 됩니다. Offline에서 online으로 전환할 때, S1F1에서 S1F2로 online하려는데 T3발생시, 어떤 상태로 갈 것인지 정하는 값입니다.  Equipment-Offline(1), Host Offline(3)로 갈 건지?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OnLineSubState는 offline에서 online으로 상태가 변경되는데, online Remote로 상태값을 설정할 건지, online local로 설정할 건지에 대한 값입니다.</a:t>
            </a:r>
            <a:endParaRPr/>
          </a:p>
        </p:txBody>
      </p:sp>
      <p:sp>
        <p:nvSpPr>
          <p:cNvPr id="341" name="Google Shape;341;p18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9:notes"/>
          <p:cNvSpPr txBox="1"/>
          <p:nvPr>
            <p:ph idx="1" type="body"/>
          </p:nvPr>
        </p:nvSpPr>
        <p:spPr>
          <a:xfrm>
            <a:off x="458012" y="4752746"/>
            <a:ext cx="5827596" cy="469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VID, NAME, Format, Length 기입해주시면 되고, 추가는 오른쪽 위에 플러스 모양 누르셔서 추가해주시면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그리고 오른 쪽 위 리스트 모양을 클릭 하면, 위 그림과 같이 창이 나타나는데 해당 사양에 맞게 체크하면 추가가 가능합니다.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Clock은 Time Data 전송 시 Format 정의 값이고, 12자리는 초단위까지, 16자리는 1/100초 단위가 추가되고, 년도는 4자리로 표기됩니다.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ControlState는 EQP의 현재 Control 상태이고,  ProcessState는 EQP의 Process의 현재 상태이며,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PreviousProcessState는 EPQ의 Process의 이전 상태입니다.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ChangedECList, ChangedECID, ChangedECV는 Equipment Constants의 값이 변경되었을 경우 보고하기 위해 사용하는 Variable이며 변경된 ECID,ECV 목록입니다.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고객사가 핸들링하지 않아도 되며, 드라이버에서 자동으로 채워집니다.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ECID(L)와 ECV(L)가 한묶음, ECList(L)가 한묶음 이기에 체크를 다 없애지 말고, 둘 중 하나를 체크하시면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MDLN은 장비 모델 이름(유형/type)이고, SOFTREV는 소프트웨어 버전(개정코드)입니다.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PPChangeName은 생성, 편집 또는 삭제한 장비의 프로세스 프로그램 이름입니다.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PPChangeStatus는 장비의 로컬 프로세스 프로그램의 생성, 편집 또는 삭제 이벤트에 유효하며, 값은 credited(1/생성), edited(2/편집), deleted(3/삭제), reserved(4-63/예약)이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추가해주실 때 주의해주셔야 될 사항이 있는데, 사양서에 이름과 저희 회색부분 이름이 다르지만 뜻이 비슷하거나 같으면, 저희 이름으로 사용하셔야만 정상작동이 가능합니다. 아니면 작동하지 않으니 꼭 주의하셔서 기입 부탁드립니다.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// 사양서에는 없으나, 필요한 variable이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/>
              <a:t>S1F1, S1F2, S1F13, S1F14에서 사용하는 데이터가 있는데, MDLN,, SOFTREV 입니다.</a:t>
            </a:r>
            <a:endParaRPr sz="950"/>
          </a:p>
        </p:txBody>
      </p:sp>
      <p:sp>
        <p:nvSpPr>
          <p:cNvPr id="355" name="Google Shape;355;p19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20:notes"/>
          <p:cNvSpPr txBox="1"/>
          <p:nvPr>
            <p:ph idx="1" type="body"/>
          </p:nvPr>
        </p:nvSpPr>
        <p:spPr>
          <a:xfrm>
            <a:off x="458012" y="4752747"/>
            <a:ext cx="5827596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RPTID, Description 기입해주시고,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Selected VID의 톱니바퀴 모양을 클릭 한 후,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REPORT ID에 맞는 VID를 오른쪽에서 왼쪽으로 이동시켜서 선택 후 창을 닫으면 설정이 완료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0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1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21:notes"/>
          <p:cNvSpPr txBox="1"/>
          <p:nvPr>
            <p:ph idx="1" type="body"/>
          </p:nvPr>
        </p:nvSpPr>
        <p:spPr>
          <a:xfrm>
            <a:off x="458012" y="4752746"/>
            <a:ext cx="5827596" cy="4759744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CEID, NAME, Enable, Description 기입해주시고, 오른 쪽 위 리스트 모양을 클릭 한 후,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해당 사양에 맞게 체크하여 추가 가능합니다.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Selected Reports의 톱니바퀴 모양을 클릭 한 후, CEID에 맞는 RPTID를 오른쪽에서 왼쪽으로 이동시켜서 선택 후 창을 닫으면 저장됩니다.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중요한 부분이라 재차 말씀드립니다.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추가해주실 때, 사양서에 이름과 저희 회색부분 이름이 다르지만 뜻이 비슷하거나 같으면, 저희 이름으로 사용 하셔야만 정상작동이 가능합니다. 아니면 작동하지 않으니 꼭!! 주의하셔서 기입 부탁드립니다.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Offline은 Equipment offline이므로, Offline On Host는 리스트에서 추가하셔서 설정 하셔야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ControlStateChanged는 Control state가 변경될 때, 보고하는 이벤트 이고, offline, onlineLocal, onlineRemote 3개 한묶음 중 선택하여 사용하거나 ControlStateChanged를 사용합니다.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EuipmentConstatntChanged는 Equipment Constants의 Value를 변경할 때, 보고하는 이벤트이며, SetEquipmentConstant 메소드 호출 시 자동 발송합니다.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EquipmentConstatntChangedByHost는 Host의 S2F15(New ECV Send)에 의해 Equipment Constants의 Value가 변경되었을 때 보고하는 이벤트이며,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S2F15(New ECV Send) 수신 시 자동 발송합니다.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ProcessProgramChanged는 Process Program 의 상태가 변경된 경우 보고하는 이벤트이며, 특정 Process Program이 추가/변경/삭제 된 경우 사용되고, ReportPPChanged 함수로 호출됩니다.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ProcessStateChanged는 EQP의 Process State가 변경되었을 때 보고하는 이벤트이며, ReportChanged 함수가 호출됩니다.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AlarmSet은 알람 발생 이벤트이고, AlarmClear는 알람 해제 이벤트 입니다.</a:t>
            </a:r>
            <a:endParaRPr/>
          </a:p>
        </p:txBody>
      </p:sp>
      <p:sp>
        <p:nvSpPr>
          <p:cNvPr id="380" name="Google Shape;380;p21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2:notes"/>
          <p:cNvSpPr txBox="1"/>
          <p:nvPr>
            <p:ph idx="1" type="body"/>
          </p:nvPr>
        </p:nvSpPr>
        <p:spPr>
          <a:xfrm>
            <a:off x="458012" y="4752747"/>
            <a:ext cx="5827596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Remote Command는 S2F41으로 1차원이고,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Enhanced Remote Command는 S2F49으로 1차원 이상을 의미합니다.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Enhanced Remote Commands / Command Parameters 기입해주시고,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Command Values Type1,2,3 위에 마우스를 올리면, 각각의 List 구성이 보이며,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해당 List 구성에 맞게 Type을 선택하여야 하며, CPNAME, Format의 데이터는 기입하지 않고, Default 상태로 놔두고, 코드에서 직접 작업하셔야 합니다.</a:t>
            </a:r>
            <a:endParaRPr/>
          </a:p>
        </p:txBody>
      </p:sp>
      <p:sp>
        <p:nvSpPr>
          <p:cNvPr id="396" name="Google Shape;396;p22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3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3:notes"/>
          <p:cNvSpPr txBox="1"/>
          <p:nvPr>
            <p:ph idx="1" type="body"/>
          </p:nvPr>
        </p:nvSpPr>
        <p:spPr>
          <a:xfrm>
            <a:off x="458012" y="4752747"/>
            <a:ext cx="5827596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ALID(알람 ID), ALCD(카테고리), Enable(사용여부), ALTX 기입해주시면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알람이 많을 경우, 하나하나 추가하지 마시고, 오른 쪽 위 내려받기와 업로드를 클릭하여 양식에 맞게 기입 후, 업로드 해주시면 됩니다.</a:t>
            </a:r>
            <a:endParaRPr/>
          </a:p>
        </p:txBody>
      </p:sp>
      <p:sp>
        <p:nvSpPr>
          <p:cNvPr id="410" name="Google Shape;410;p23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4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24:notes"/>
          <p:cNvSpPr txBox="1"/>
          <p:nvPr>
            <p:ph idx="1" type="body"/>
          </p:nvPr>
        </p:nvSpPr>
        <p:spPr>
          <a:xfrm>
            <a:off x="411163" y="4752747"/>
            <a:ext cx="5921375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// 1. Sample source랑 host simulator 어떻게 연결하는지 보여주기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2. 기능 몇 개 보여주기</a:t>
            </a:r>
            <a:endParaRPr/>
          </a:p>
        </p:txBody>
      </p:sp>
      <p:sp>
        <p:nvSpPr>
          <p:cNvPr id="421" name="Google Shape;421;p24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5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25:notes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5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6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26:notes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6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7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27:notes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7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8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8:notes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8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9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29:notes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9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0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30:notes"/>
          <p:cNvSpPr txBox="1"/>
          <p:nvPr>
            <p:ph idx="1" type="body"/>
          </p:nvPr>
        </p:nvSpPr>
        <p:spPr>
          <a:xfrm>
            <a:off x="411163" y="4752747"/>
            <a:ext cx="5921375" cy="4627586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노란색으로 채워진 부분 전부 작성해주시면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단, UbiGEM에서는 spooling, limit monitoring은 지원을 하지 않기에, 적용여부 관련해서는 엑스를 표시하시면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EQP ECID, CEID, VID는 필수로 기입해야하며, 모르겠으면 HOST와 같이 기입하시면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 Definition의 적용여부는 모두 지원하기에 동그라미로 표시하시면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모든 적용여부에 엑스로 표시 전, Host 업체와 협의 후 기입하시길 바랍니다.</a:t>
            </a:r>
            <a:endParaRPr/>
          </a:p>
        </p:txBody>
      </p:sp>
      <p:sp>
        <p:nvSpPr>
          <p:cNvPr id="485" name="Google Shape;485;p30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1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31:notes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1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2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32:notes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2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3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33:notes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3:notes"/>
          <p:cNvSpPr txBox="1"/>
          <p:nvPr>
            <p:ph idx="12" type="sldNum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  <a:noFill/>
          <a:ln>
            <a:noFill/>
          </a:ln>
        </p:spPr>
        <p:txBody>
          <a:bodyPr anchorCtr="0" anchor="b" bIns="47475" lIns="94950" spcFirstLastPara="1" rIns="94950" wrap="square" tIns="47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4:notes"/>
          <p:cNvSpPr txBox="1"/>
          <p:nvPr>
            <p:ph idx="1" type="body"/>
          </p:nvPr>
        </p:nvSpPr>
        <p:spPr>
          <a:xfrm>
            <a:off x="674212" y="4752747"/>
            <a:ext cx="5393690" cy="3888611"/>
          </a:xfrm>
          <a:prstGeom prst="rect">
            <a:avLst/>
          </a:prstGeom>
        </p:spPr>
        <p:txBody>
          <a:bodyPr anchorCtr="0" anchor="t" bIns="47475" lIns="94950" spcFirstLastPara="1" rIns="94950" wrap="square" tIns="4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4:notes"/>
          <p:cNvSpPr/>
          <p:nvPr>
            <p:ph idx="2" type="sldImg"/>
          </p:nvPr>
        </p:nvSpPr>
        <p:spPr>
          <a:xfrm>
            <a:off x="411163" y="1235075"/>
            <a:ext cx="5921375" cy="3332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빈 화면">
  <p:cSld name="4_빈 화면">
    <p:bg>
      <p:bgPr>
        <a:solidFill>
          <a:srgbClr val="4A8DCB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6"/>
          <p:cNvPicPr preferRelativeResize="0"/>
          <p:nvPr/>
        </p:nvPicPr>
        <p:blipFill rotWithShape="1">
          <a:blip r:embed="rId2">
            <a:alphaModFix/>
          </a:blip>
          <a:srcRect b="54642" l="10592" r="23272" t="21070"/>
          <a:stretch/>
        </p:blipFill>
        <p:spPr>
          <a:xfrm>
            <a:off x="0" y="4588625"/>
            <a:ext cx="12192001" cy="22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6"/>
          <p:cNvSpPr txBox="1"/>
          <p:nvPr>
            <p:ph type="title"/>
          </p:nvPr>
        </p:nvSpPr>
        <p:spPr>
          <a:xfrm>
            <a:off x="675861" y="1286098"/>
            <a:ext cx="11267218" cy="2556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 Black"/>
              <a:buNone/>
              <a:defRPr b="1" i="0" sz="5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3" name="Google Shape;1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1410" y="345085"/>
            <a:ext cx="646430" cy="209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6"/>
          <p:cNvSpPr txBox="1"/>
          <p:nvPr>
            <p:ph idx="1" type="body"/>
          </p:nvPr>
        </p:nvSpPr>
        <p:spPr>
          <a:xfrm>
            <a:off x="675861" y="5571903"/>
            <a:ext cx="11267218" cy="791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5" name="Google Shape;15;p36"/>
          <p:cNvSpPr txBox="1"/>
          <p:nvPr/>
        </p:nvSpPr>
        <p:spPr>
          <a:xfrm>
            <a:off x="675860" y="5178390"/>
            <a:ext cx="146697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㈜유비샘</a:t>
            </a:r>
            <a:endParaRPr b="1"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7"/>
          <p:cNvPicPr preferRelativeResize="0"/>
          <p:nvPr/>
        </p:nvPicPr>
        <p:blipFill rotWithShape="1">
          <a:blip r:embed="rId2">
            <a:alphaModFix/>
          </a:blip>
          <a:srcRect b="54304" l="10662" r="24081" t="21227"/>
          <a:stretch/>
        </p:blipFill>
        <p:spPr>
          <a:xfrm>
            <a:off x="0" y="4588625"/>
            <a:ext cx="12192000" cy="22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7"/>
          <p:cNvSpPr txBox="1"/>
          <p:nvPr>
            <p:ph idx="1" type="body"/>
          </p:nvPr>
        </p:nvSpPr>
        <p:spPr>
          <a:xfrm>
            <a:off x="284480" y="793767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9" name="Google Shape;19;p37"/>
          <p:cNvSpPr txBox="1"/>
          <p:nvPr>
            <p:ph idx="2" type="body"/>
          </p:nvPr>
        </p:nvSpPr>
        <p:spPr>
          <a:xfrm>
            <a:off x="284480" y="1453496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0" name="Google Shape;20;p37"/>
          <p:cNvSpPr txBox="1"/>
          <p:nvPr>
            <p:ph idx="3" type="body"/>
          </p:nvPr>
        </p:nvSpPr>
        <p:spPr>
          <a:xfrm>
            <a:off x="3298552" y="779190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1" name="Google Shape;21;p37"/>
          <p:cNvSpPr txBox="1"/>
          <p:nvPr>
            <p:ph idx="4" type="body"/>
          </p:nvPr>
        </p:nvSpPr>
        <p:spPr>
          <a:xfrm>
            <a:off x="3298552" y="1438919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2" name="Google Shape;22;p37"/>
          <p:cNvSpPr txBox="1"/>
          <p:nvPr>
            <p:ph idx="5" type="body"/>
          </p:nvPr>
        </p:nvSpPr>
        <p:spPr>
          <a:xfrm>
            <a:off x="6475928" y="793767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3" name="Google Shape;23;p37"/>
          <p:cNvSpPr txBox="1"/>
          <p:nvPr>
            <p:ph idx="6" type="body"/>
          </p:nvPr>
        </p:nvSpPr>
        <p:spPr>
          <a:xfrm>
            <a:off x="6475928" y="1453496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4" name="Google Shape;24;p37"/>
          <p:cNvSpPr txBox="1"/>
          <p:nvPr>
            <p:ph idx="7" type="body"/>
          </p:nvPr>
        </p:nvSpPr>
        <p:spPr>
          <a:xfrm>
            <a:off x="9490745" y="793767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5" name="Google Shape;25;p37"/>
          <p:cNvSpPr txBox="1"/>
          <p:nvPr>
            <p:ph idx="8" type="body"/>
          </p:nvPr>
        </p:nvSpPr>
        <p:spPr>
          <a:xfrm>
            <a:off x="9490745" y="1453496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6" name="Google Shape;26;p37"/>
          <p:cNvSpPr txBox="1"/>
          <p:nvPr>
            <p:ph idx="9" type="body"/>
          </p:nvPr>
        </p:nvSpPr>
        <p:spPr>
          <a:xfrm>
            <a:off x="1531644" y="4048489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7" name="Google Shape;27;p37"/>
          <p:cNvSpPr txBox="1"/>
          <p:nvPr>
            <p:ph idx="13" type="body"/>
          </p:nvPr>
        </p:nvSpPr>
        <p:spPr>
          <a:xfrm>
            <a:off x="1531644" y="4708218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8" name="Google Shape;28;p37"/>
          <p:cNvSpPr txBox="1"/>
          <p:nvPr>
            <p:ph idx="14" type="body"/>
          </p:nvPr>
        </p:nvSpPr>
        <p:spPr>
          <a:xfrm>
            <a:off x="4678914" y="4048489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9" name="Google Shape;29;p37"/>
          <p:cNvSpPr txBox="1"/>
          <p:nvPr>
            <p:ph idx="15" type="body"/>
          </p:nvPr>
        </p:nvSpPr>
        <p:spPr>
          <a:xfrm>
            <a:off x="4678914" y="4708218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30" name="Google Shape;30;p37"/>
          <p:cNvSpPr txBox="1"/>
          <p:nvPr>
            <p:ph idx="16" type="body"/>
          </p:nvPr>
        </p:nvSpPr>
        <p:spPr>
          <a:xfrm>
            <a:off x="7826184" y="4033912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31" name="Google Shape;31;p37"/>
          <p:cNvSpPr txBox="1"/>
          <p:nvPr>
            <p:ph idx="17" type="body"/>
          </p:nvPr>
        </p:nvSpPr>
        <p:spPr>
          <a:xfrm>
            <a:off x="7826184" y="4693641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grpSp>
        <p:nvGrpSpPr>
          <p:cNvPr id="32" name="Google Shape;32;p37"/>
          <p:cNvGrpSpPr/>
          <p:nvPr/>
        </p:nvGrpSpPr>
        <p:grpSpPr>
          <a:xfrm>
            <a:off x="11269291" y="316237"/>
            <a:ext cx="730865" cy="266593"/>
            <a:chOff x="11269291" y="316237"/>
            <a:chExt cx="730865" cy="266593"/>
          </a:xfrm>
        </p:grpSpPr>
        <p:sp>
          <p:nvSpPr>
            <p:cNvPr id="33" name="Google Shape;33;p37"/>
            <p:cNvSpPr/>
            <p:nvPr/>
          </p:nvSpPr>
          <p:spPr>
            <a:xfrm>
              <a:off x="11891963" y="345281"/>
              <a:ext cx="78581" cy="8096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4" name="Google Shape;3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269291" y="316237"/>
              <a:ext cx="730865" cy="26659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사용자 지정 레이아웃">
  <p:cSld name="2_사용자 지정 레이아웃">
    <p:bg>
      <p:bgPr>
        <a:solidFill>
          <a:srgbClr val="F2F2F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8"/>
          <p:cNvPicPr preferRelativeResize="0"/>
          <p:nvPr/>
        </p:nvPicPr>
        <p:blipFill rotWithShape="1">
          <a:blip r:embed="rId2">
            <a:alphaModFix/>
          </a:blip>
          <a:srcRect b="54304" l="10662" r="24081" t="21227"/>
          <a:stretch/>
        </p:blipFill>
        <p:spPr>
          <a:xfrm>
            <a:off x="0" y="4588625"/>
            <a:ext cx="12192000" cy="22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8"/>
          <p:cNvSpPr txBox="1"/>
          <p:nvPr>
            <p:ph idx="1" type="body"/>
          </p:nvPr>
        </p:nvSpPr>
        <p:spPr>
          <a:xfrm>
            <a:off x="1773966" y="1242947"/>
            <a:ext cx="1640574" cy="11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7200"/>
              <a:buFont typeface="Arial"/>
              <a:buNone/>
              <a:defRPr b="1" i="0" sz="7200" u="none" cap="none" strike="noStrike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38" name="Google Shape;38;p38"/>
          <p:cNvSpPr txBox="1"/>
          <p:nvPr>
            <p:ph idx="2" type="body"/>
          </p:nvPr>
        </p:nvSpPr>
        <p:spPr>
          <a:xfrm>
            <a:off x="3136105" y="3241050"/>
            <a:ext cx="712549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4A8DC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39" name="Google Shape;39;p38"/>
          <p:cNvSpPr/>
          <p:nvPr/>
        </p:nvSpPr>
        <p:spPr>
          <a:xfrm>
            <a:off x="2323675" y="2566737"/>
            <a:ext cx="45719" cy="2106863"/>
          </a:xfrm>
          <a:prstGeom prst="rect">
            <a:avLst/>
          </a:prstGeom>
          <a:solidFill>
            <a:srgbClr val="4A8D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0" name="Google Shape;40;p38"/>
          <p:cNvGrpSpPr/>
          <p:nvPr/>
        </p:nvGrpSpPr>
        <p:grpSpPr>
          <a:xfrm>
            <a:off x="11269291" y="316237"/>
            <a:ext cx="730865" cy="266593"/>
            <a:chOff x="11269291" y="316237"/>
            <a:chExt cx="730865" cy="266593"/>
          </a:xfrm>
        </p:grpSpPr>
        <p:sp>
          <p:nvSpPr>
            <p:cNvPr id="41" name="Google Shape;41;p38"/>
            <p:cNvSpPr/>
            <p:nvPr/>
          </p:nvSpPr>
          <p:spPr>
            <a:xfrm>
              <a:off x="11891963" y="345281"/>
              <a:ext cx="78581" cy="8096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42" name="Google Shape;42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269291" y="316237"/>
              <a:ext cx="730865" cy="26659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슬라이드">
  <p:cSld name="2_제목 슬라이드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9"/>
          <p:cNvSpPr txBox="1"/>
          <p:nvPr>
            <p:ph type="title"/>
          </p:nvPr>
        </p:nvSpPr>
        <p:spPr>
          <a:xfrm>
            <a:off x="923635" y="310001"/>
            <a:ext cx="10016892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5" name="Google Shape;45;p39"/>
          <p:cNvSpPr txBox="1"/>
          <p:nvPr>
            <p:ph idx="1" type="body"/>
          </p:nvPr>
        </p:nvSpPr>
        <p:spPr>
          <a:xfrm>
            <a:off x="284480" y="1011677"/>
            <a:ext cx="11694160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pic>
        <p:nvPicPr>
          <p:cNvPr id="46" name="Google Shape;46;p39"/>
          <p:cNvPicPr preferRelativeResize="0"/>
          <p:nvPr/>
        </p:nvPicPr>
        <p:blipFill rotWithShape="1">
          <a:blip r:embed="rId2">
            <a:alphaModFix/>
          </a:blip>
          <a:srcRect b="54304" l="10662" r="24081" t="21227"/>
          <a:stretch/>
        </p:blipFill>
        <p:spPr>
          <a:xfrm>
            <a:off x="0" y="4588625"/>
            <a:ext cx="12192000" cy="22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9"/>
          <p:cNvSpPr txBox="1"/>
          <p:nvPr>
            <p:ph idx="2" type="body"/>
          </p:nvPr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grpSp>
        <p:nvGrpSpPr>
          <p:cNvPr id="48" name="Google Shape;48;p39"/>
          <p:cNvGrpSpPr/>
          <p:nvPr/>
        </p:nvGrpSpPr>
        <p:grpSpPr>
          <a:xfrm>
            <a:off x="11269291" y="316237"/>
            <a:ext cx="730865" cy="266593"/>
            <a:chOff x="11269291" y="316237"/>
            <a:chExt cx="730865" cy="266593"/>
          </a:xfrm>
        </p:grpSpPr>
        <p:sp>
          <p:nvSpPr>
            <p:cNvPr id="49" name="Google Shape;49;p39"/>
            <p:cNvSpPr/>
            <p:nvPr/>
          </p:nvSpPr>
          <p:spPr>
            <a:xfrm>
              <a:off x="11891963" y="345281"/>
              <a:ext cx="78581" cy="8096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50" name="Google Shape;5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269291" y="316237"/>
              <a:ext cx="730865" cy="26659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제목 슬라이드">
  <p:cSld name="3_제목 슬라이드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0"/>
          <p:cNvPicPr preferRelativeResize="0"/>
          <p:nvPr/>
        </p:nvPicPr>
        <p:blipFill rotWithShape="1">
          <a:blip r:embed="rId2">
            <a:alphaModFix/>
          </a:blip>
          <a:srcRect b="54304" l="10662" r="24081" t="21227"/>
          <a:stretch/>
        </p:blipFill>
        <p:spPr>
          <a:xfrm>
            <a:off x="0" y="4588625"/>
            <a:ext cx="12192000" cy="22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0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4" name="Google Shape;54;p40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5" name="Google Shape;55;p40"/>
          <p:cNvSpPr txBox="1"/>
          <p:nvPr>
            <p:ph type="title"/>
          </p:nvPr>
        </p:nvSpPr>
        <p:spPr>
          <a:xfrm>
            <a:off x="923635" y="310001"/>
            <a:ext cx="10016892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40"/>
          <p:cNvSpPr txBox="1"/>
          <p:nvPr>
            <p:ph idx="3" type="body"/>
          </p:nvPr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grpSp>
        <p:nvGrpSpPr>
          <p:cNvPr id="57" name="Google Shape;57;p40"/>
          <p:cNvGrpSpPr/>
          <p:nvPr/>
        </p:nvGrpSpPr>
        <p:grpSpPr>
          <a:xfrm>
            <a:off x="11269291" y="316237"/>
            <a:ext cx="730865" cy="266593"/>
            <a:chOff x="11269291" y="316237"/>
            <a:chExt cx="730865" cy="266593"/>
          </a:xfrm>
        </p:grpSpPr>
        <p:sp>
          <p:nvSpPr>
            <p:cNvPr id="58" name="Google Shape;58;p40"/>
            <p:cNvSpPr/>
            <p:nvPr/>
          </p:nvSpPr>
          <p:spPr>
            <a:xfrm>
              <a:off x="11891963" y="345281"/>
              <a:ext cx="78581" cy="8096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59" name="Google Shape;5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269291" y="316237"/>
              <a:ext cx="730865" cy="26659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빈 화면">
  <p:cSld name="5_빈 화면">
    <p:bg>
      <p:bgPr>
        <a:solidFill>
          <a:srgbClr val="4A8DCB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41"/>
          <p:cNvPicPr preferRelativeResize="0"/>
          <p:nvPr/>
        </p:nvPicPr>
        <p:blipFill rotWithShape="1">
          <a:blip r:embed="rId2">
            <a:alphaModFix/>
          </a:blip>
          <a:srcRect b="54642" l="10592" r="23272" t="21070"/>
          <a:stretch/>
        </p:blipFill>
        <p:spPr>
          <a:xfrm>
            <a:off x="0" y="4588625"/>
            <a:ext cx="12192001" cy="226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1410" y="345085"/>
            <a:ext cx="646430" cy="2090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1"/>
          <p:cNvSpPr txBox="1"/>
          <p:nvPr/>
        </p:nvSpPr>
        <p:spPr>
          <a:xfrm>
            <a:off x="8673991" y="2423110"/>
            <a:ext cx="95371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“</a:t>
            </a:r>
            <a:endParaRPr b="1" sz="4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" name="Google Shape;64;p41"/>
          <p:cNvSpPr/>
          <p:nvPr/>
        </p:nvSpPr>
        <p:spPr>
          <a:xfrm>
            <a:off x="0" y="-3602"/>
            <a:ext cx="3389244" cy="3389244"/>
          </a:xfrm>
          <a:prstGeom prst="rect">
            <a:avLst/>
          </a:prstGeom>
          <a:blipFill rotWithShape="1">
            <a:blip r:embed="rId4">
              <a:alphaModFix amt="1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" name="Google Shape;65;p41"/>
          <p:cNvSpPr txBox="1"/>
          <p:nvPr/>
        </p:nvSpPr>
        <p:spPr>
          <a:xfrm>
            <a:off x="4865868" y="2404117"/>
            <a:ext cx="70192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“</a:t>
            </a:r>
            <a:endParaRPr b="1" sz="4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" name="Google Shape;66;p41"/>
          <p:cNvSpPr txBox="1"/>
          <p:nvPr>
            <p:ph idx="1" type="body"/>
          </p:nvPr>
        </p:nvSpPr>
        <p:spPr>
          <a:xfrm>
            <a:off x="8666240" y="3703695"/>
            <a:ext cx="3107015" cy="204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67" name="Google Shape;67;p41"/>
          <p:cNvSpPr txBox="1"/>
          <p:nvPr/>
        </p:nvSpPr>
        <p:spPr>
          <a:xfrm>
            <a:off x="4865868" y="3159816"/>
            <a:ext cx="292641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 you for having listened to me so far.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0" i="0"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you have any questions, please contact me and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I'll answer with all my heart.</a:t>
            </a:r>
            <a:endParaRPr sz="16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8" name="Google Shape;68;p41"/>
          <p:cNvSpPr txBox="1"/>
          <p:nvPr/>
        </p:nvSpPr>
        <p:spPr>
          <a:xfrm>
            <a:off x="8673991" y="3159816"/>
            <a:ext cx="292641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㈜유비샘</a:t>
            </a:r>
            <a:endParaRPr b="1"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2"/>
          <p:cNvSpPr txBox="1"/>
          <p:nvPr>
            <p:ph type="title"/>
          </p:nvPr>
        </p:nvSpPr>
        <p:spPr>
          <a:xfrm>
            <a:off x="284480" y="310001"/>
            <a:ext cx="11694160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1" name="Google Shape;71;p42"/>
          <p:cNvSpPr txBox="1"/>
          <p:nvPr>
            <p:ph idx="1" type="body"/>
          </p:nvPr>
        </p:nvSpPr>
        <p:spPr>
          <a:xfrm>
            <a:off x="284480" y="1011677"/>
            <a:ext cx="11694160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2" name="Google Shape;72;p42"/>
          <p:cNvSpPr/>
          <p:nvPr/>
        </p:nvSpPr>
        <p:spPr>
          <a:xfrm rot="2700000">
            <a:off x="170110" y="430410"/>
            <a:ext cx="86498" cy="86498"/>
          </a:xfrm>
          <a:prstGeom prst="rect">
            <a:avLst/>
          </a:prstGeom>
          <a:solidFill>
            <a:srgbClr val="72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3" name="Google Shape;73;p42"/>
          <p:cNvPicPr preferRelativeResize="0"/>
          <p:nvPr/>
        </p:nvPicPr>
        <p:blipFill rotWithShape="1">
          <a:blip r:embed="rId2">
            <a:alphaModFix/>
          </a:blip>
          <a:srcRect b="54304" l="10662" r="24081" t="21227"/>
          <a:stretch/>
        </p:blipFill>
        <p:spPr>
          <a:xfrm>
            <a:off x="0" y="4588625"/>
            <a:ext cx="12192000" cy="226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43"/>
          <p:cNvPicPr preferRelativeResize="0"/>
          <p:nvPr/>
        </p:nvPicPr>
        <p:blipFill rotWithShape="1">
          <a:blip r:embed="rId2">
            <a:alphaModFix/>
          </a:blip>
          <a:srcRect b="54304" l="10662" r="24081" t="21227"/>
          <a:stretch/>
        </p:blipFill>
        <p:spPr>
          <a:xfrm>
            <a:off x="0" y="4588625"/>
            <a:ext cx="12192000" cy="22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3"/>
          <p:cNvSpPr txBox="1"/>
          <p:nvPr>
            <p:ph type="title"/>
          </p:nvPr>
        </p:nvSpPr>
        <p:spPr>
          <a:xfrm>
            <a:off x="284480" y="310001"/>
            <a:ext cx="11694160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7" name="Google Shape;77;p43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8" name="Google Shape;78;p43"/>
          <p:cNvSpPr/>
          <p:nvPr/>
        </p:nvSpPr>
        <p:spPr>
          <a:xfrm rot="2700000">
            <a:off x="170110" y="430410"/>
            <a:ext cx="86498" cy="86498"/>
          </a:xfrm>
          <a:prstGeom prst="rect">
            <a:avLst/>
          </a:prstGeom>
          <a:solidFill>
            <a:srgbClr val="72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43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>
  <p:cSld name="빈 화면">
    <p:bg>
      <p:bgPr>
        <a:solidFill>
          <a:srgbClr val="262626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4"/>
          <p:cNvPicPr preferRelativeResize="0"/>
          <p:nvPr/>
        </p:nvPicPr>
        <p:blipFill rotWithShape="1">
          <a:blip r:embed="rId2">
            <a:alphaModFix/>
          </a:blip>
          <a:srcRect b="54642" l="10592" r="23272" t="21070"/>
          <a:stretch/>
        </p:blipFill>
        <p:spPr>
          <a:xfrm>
            <a:off x="0" y="4588625"/>
            <a:ext cx="12192001" cy="22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4"/>
          <p:cNvSpPr txBox="1"/>
          <p:nvPr>
            <p:ph type="title"/>
          </p:nvPr>
        </p:nvSpPr>
        <p:spPr>
          <a:xfrm>
            <a:off x="248920" y="1757445"/>
            <a:ext cx="11694160" cy="12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Arial Black"/>
              <a:buNone/>
              <a:defRPr b="1" i="0" sz="9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44"/>
          <p:cNvSpPr txBox="1"/>
          <p:nvPr>
            <p:ph idx="1" type="body"/>
          </p:nvPr>
        </p:nvSpPr>
        <p:spPr>
          <a:xfrm>
            <a:off x="248920" y="3151758"/>
            <a:ext cx="11694160" cy="379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4" name="Google Shape;84;p44"/>
          <p:cNvSpPr txBox="1"/>
          <p:nvPr>
            <p:ph idx="2" type="body"/>
          </p:nvPr>
        </p:nvSpPr>
        <p:spPr>
          <a:xfrm>
            <a:off x="248920" y="5723312"/>
            <a:ext cx="11694160" cy="875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빈 화면">
  <p:cSld name="1_빈 화면">
    <p:bg>
      <p:bgPr>
        <a:solidFill>
          <a:srgbClr val="262626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5"/>
          <p:cNvPicPr preferRelativeResize="0"/>
          <p:nvPr/>
        </p:nvPicPr>
        <p:blipFill rotWithShape="1">
          <a:blip r:embed="rId2">
            <a:alphaModFix/>
          </a:blip>
          <a:srcRect b="54642" l="10592" r="23272" t="21070"/>
          <a:stretch/>
        </p:blipFill>
        <p:spPr>
          <a:xfrm>
            <a:off x="0" y="4588625"/>
            <a:ext cx="12192001" cy="22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5"/>
          <p:cNvSpPr txBox="1"/>
          <p:nvPr>
            <p:ph type="title"/>
          </p:nvPr>
        </p:nvSpPr>
        <p:spPr>
          <a:xfrm>
            <a:off x="248920" y="1286097"/>
            <a:ext cx="11694160" cy="289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 Black"/>
              <a:buNone/>
              <a:defRPr b="1" i="0" sz="5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88" name="Google Shape;8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920" y="259385"/>
            <a:ext cx="867209" cy="28051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5"/>
          <p:cNvSpPr txBox="1"/>
          <p:nvPr>
            <p:ph idx="1" type="body"/>
          </p:nvPr>
        </p:nvSpPr>
        <p:spPr>
          <a:xfrm>
            <a:off x="248920" y="5571903"/>
            <a:ext cx="11694160" cy="791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빈 화면">
  <p:cSld name="3_빈 화면">
    <p:bg>
      <p:bgPr>
        <a:solidFill>
          <a:srgbClr val="72717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46"/>
          <p:cNvPicPr preferRelativeResize="0"/>
          <p:nvPr/>
        </p:nvPicPr>
        <p:blipFill rotWithShape="1">
          <a:blip r:embed="rId2">
            <a:alphaModFix/>
          </a:blip>
          <a:srcRect b="54642" l="10592" r="23272" t="21070"/>
          <a:stretch/>
        </p:blipFill>
        <p:spPr>
          <a:xfrm>
            <a:off x="0" y="4588625"/>
            <a:ext cx="12192001" cy="22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6"/>
          <p:cNvSpPr txBox="1"/>
          <p:nvPr>
            <p:ph type="title"/>
          </p:nvPr>
        </p:nvSpPr>
        <p:spPr>
          <a:xfrm>
            <a:off x="248920" y="1286097"/>
            <a:ext cx="11694160" cy="289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 Black"/>
              <a:buNone/>
              <a:defRPr b="1" i="0" sz="5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93" name="Google Shape;9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920" y="259385"/>
            <a:ext cx="867209" cy="28051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6"/>
          <p:cNvSpPr txBox="1"/>
          <p:nvPr>
            <p:ph idx="1" type="body"/>
          </p:nvPr>
        </p:nvSpPr>
        <p:spPr>
          <a:xfrm>
            <a:off x="248920" y="5571903"/>
            <a:ext cx="11694160" cy="791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빈 화면">
  <p:cSld name="2_빈 화면">
    <p:bg>
      <p:bgPr>
        <a:solidFill>
          <a:srgbClr val="F2F2F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47"/>
          <p:cNvPicPr preferRelativeResize="0"/>
          <p:nvPr/>
        </p:nvPicPr>
        <p:blipFill rotWithShape="1">
          <a:blip r:embed="rId2">
            <a:alphaModFix/>
          </a:blip>
          <a:srcRect b="54642" l="10592" r="23272" t="21070"/>
          <a:stretch/>
        </p:blipFill>
        <p:spPr>
          <a:xfrm>
            <a:off x="0" y="4588625"/>
            <a:ext cx="12192001" cy="22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7"/>
          <p:cNvSpPr txBox="1"/>
          <p:nvPr>
            <p:ph type="title"/>
          </p:nvPr>
        </p:nvSpPr>
        <p:spPr>
          <a:xfrm>
            <a:off x="248920" y="1972251"/>
            <a:ext cx="11694160" cy="12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b="1" i="0" sz="8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8" name="Google Shape;98;p47"/>
          <p:cNvSpPr txBox="1"/>
          <p:nvPr>
            <p:ph idx="1" type="body"/>
          </p:nvPr>
        </p:nvSpPr>
        <p:spPr>
          <a:xfrm>
            <a:off x="1378894" y="2135871"/>
            <a:ext cx="9434210" cy="930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9" name="Google Shape;99;p47"/>
          <p:cNvSpPr txBox="1"/>
          <p:nvPr>
            <p:ph idx="2" type="body"/>
          </p:nvPr>
        </p:nvSpPr>
        <p:spPr>
          <a:xfrm>
            <a:off x="248920" y="5723312"/>
            <a:ext cx="11694160" cy="875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20.png"/><Relationship Id="rId8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4.png"/><Relationship Id="rId7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Relationship Id="rId5" Type="http://schemas.openxmlformats.org/officeDocument/2006/relationships/image" Target="../media/image4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Relationship Id="rId4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6.png"/><Relationship Id="rId4" Type="http://schemas.openxmlformats.org/officeDocument/2006/relationships/image" Target="../media/image62.png"/><Relationship Id="rId5" Type="http://schemas.openxmlformats.org/officeDocument/2006/relationships/image" Target="../media/image57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title"/>
          </p:nvPr>
        </p:nvSpPr>
        <p:spPr>
          <a:xfrm>
            <a:off x="665922" y="2172130"/>
            <a:ext cx="11277158" cy="949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UbiGEM </a:t>
            </a:r>
            <a:r>
              <a:rPr b="0" lang="en-US">
                <a:latin typeface="Malgun Gothic"/>
                <a:ea typeface="Malgun Gothic"/>
                <a:cs typeface="Malgun Gothic"/>
                <a:sym typeface="Malgun Gothic"/>
              </a:rPr>
              <a:t>관련 설명</a:t>
            </a:r>
            <a:endParaRPr/>
          </a:p>
        </p:txBody>
      </p:sp>
      <p:sp>
        <p:nvSpPr>
          <p:cNvPr id="106" name="Google Shape;106;p1"/>
          <p:cNvSpPr txBox="1"/>
          <p:nvPr>
            <p:ph idx="1" type="body"/>
          </p:nvPr>
        </p:nvSpPr>
        <p:spPr>
          <a:xfrm>
            <a:off x="665922" y="5620461"/>
            <a:ext cx="11277158" cy="791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1100"/>
              <a:t>연구소</a:t>
            </a:r>
            <a:endParaRPr sz="1100"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1100"/>
              <a:t>서혜영 대리</a:t>
            </a:r>
            <a:endParaRPr sz="1100"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 sz="1100"/>
              <a:t>seohyeyeong@ubisam.com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665920" y="3121223"/>
            <a:ext cx="112771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UbiGEM Information Education</a:t>
            </a:r>
            <a:endParaRPr sz="1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284480" y="793767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lang="en-US"/>
              <a:t>01.</a:t>
            </a:r>
            <a:endParaRPr/>
          </a:p>
        </p:txBody>
      </p:sp>
      <p:sp>
        <p:nvSpPr>
          <p:cNvPr id="114" name="Google Shape;114;p2"/>
          <p:cNvSpPr txBox="1"/>
          <p:nvPr>
            <p:ph idx="2" type="body"/>
          </p:nvPr>
        </p:nvSpPr>
        <p:spPr>
          <a:xfrm>
            <a:off x="284480" y="1453496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SECS/GEM 개요</a:t>
            </a:r>
            <a:endParaRPr/>
          </a:p>
        </p:txBody>
      </p:sp>
      <p:sp>
        <p:nvSpPr>
          <p:cNvPr id="115" name="Google Shape;115;p2"/>
          <p:cNvSpPr txBox="1"/>
          <p:nvPr>
            <p:ph idx="3" type="body"/>
          </p:nvPr>
        </p:nvSpPr>
        <p:spPr>
          <a:xfrm>
            <a:off x="3298552" y="779190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lang="en-US">
                <a:solidFill>
                  <a:srgbClr val="4A8DCB"/>
                </a:solidFill>
              </a:rPr>
              <a:t>02.</a:t>
            </a:r>
            <a:endParaRPr>
              <a:solidFill>
                <a:srgbClr val="4A8DCB"/>
              </a:solidFill>
            </a:endParaRPr>
          </a:p>
        </p:txBody>
      </p:sp>
      <p:sp>
        <p:nvSpPr>
          <p:cNvPr id="116" name="Google Shape;116;p2"/>
          <p:cNvSpPr txBox="1"/>
          <p:nvPr>
            <p:ph idx="4" type="body"/>
          </p:nvPr>
        </p:nvSpPr>
        <p:spPr>
          <a:xfrm>
            <a:off x="3298552" y="1438919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UbiGEM 소개</a:t>
            </a:r>
            <a:endParaRPr/>
          </a:p>
        </p:txBody>
      </p:sp>
      <p:sp>
        <p:nvSpPr>
          <p:cNvPr id="117" name="Google Shape;117;p2"/>
          <p:cNvSpPr txBox="1"/>
          <p:nvPr>
            <p:ph idx="5" type="body"/>
          </p:nvPr>
        </p:nvSpPr>
        <p:spPr>
          <a:xfrm>
            <a:off x="6475928" y="793767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lang="en-US">
                <a:solidFill>
                  <a:srgbClr val="4A8DCB"/>
                </a:solidFill>
              </a:rPr>
              <a:t>03.</a:t>
            </a:r>
            <a:endParaRPr>
              <a:solidFill>
                <a:srgbClr val="4A8DCB"/>
              </a:solidFill>
            </a:endParaRPr>
          </a:p>
        </p:txBody>
      </p:sp>
      <p:sp>
        <p:nvSpPr>
          <p:cNvPr id="118" name="Google Shape;118;p2"/>
          <p:cNvSpPr txBox="1"/>
          <p:nvPr>
            <p:ph idx="6" type="body"/>
          </p:nvPr>
        </p:nvSpPr>
        <p:spPr>
          <a:xfrm>
            <a:off x="6475928" y="1453496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UbiGEM Configuration Tool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사용법</a:t>
            </a:r>
            <a:endParaRPr/>
          </a:p>
        </p:txBody>
      </p:sp>
      <p:sp>
        <p:nvSpPr>
          <p:cNvPr id="119" name="Google Shape;119;p2"/>
          <p:cNvSpPr txBox="1"/>
          <p:nvPr>
            <p:ph idx="7" type="body"/>
          </p:nvPr>
        </p:nvSpPr>
        <p:spPr>
          <a:xfrm>
            <a:off x="9490745" y="793767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lang="en-US">
                <a:solidFill>
                  <a:srgbClr val="4A8DCB"/>
                </a:solidFill>
              </a:rPr>
              <a:t>04.</a:t>
            </a:r>
            <a:endParaRPr>
              <a:solidFill>
                <a:srgbClr val="4A8DCB"/>
              </a:solidFill>
            </a:endParaRPr>
          </a:p>
        </p:txBody>
      </p:sp>
      <p:sp>
        <p:nvSpPr>
          <p:cNvPr id="120" name="Google Shape;120;p2"/>
          <p:cNvSpPr txBox="1"/>
          <p:nvPr>
            <p:ph idx="8" type="body"/>
          </p:nvPr>
        </p:nvSpPr>
        <p:spPr>
          <a:xfrm>
            <a:off x="9490745" y="1453496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UbiGEM HOST Simulator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사용법</a:t>
            </a:r>
            <a:endParaRPr/>
          </a:p>
        </p:txBody>
      </p:sp>
      <p:sp>
        <p:nvSpPr>
          <p:cNvPr id="121" name="Google Shape;121;p2"/>
          <p:cNvSpPr txBox="1"/>
          <p:nvPr>
            <p:ph idx="9" type="body"/>
          </p:nvPr>
        </p:nvSpPr>
        <p:spPr>
          <a:xfrm>
            <a:off x="1531644" y="4048489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lang="en-US">
                <a:solidFill>
                  <a:srgbClr val="4A8DCB"/>
                </a:solidFill>
              </a:rPr>
              <a:t>05.</a:t>
            </a:r>
            <a:endParaRPr>
              <a:solidFill>
                <a:srgbClr val="4A8DCB"/>
              </a:solidFill>
            </a:endParaRPr>
          </a:p>
        </p:txBody>
      </p:sp>
      <p:sp>
        <p:nvSpPr>
          <p:cNvPr id="122" name="Google Shape;122;p2"/>
          <p:cNvSpPr txBox="1"/>
          <p:nvPr>
            <p:ph idx="13" type="body"/>
          </p:nvPr>
        </p:nvSpPr>
        <p:spPr>
          <a:xfrm>
            <a:off x="1531644" y="4708218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LGIT 대응 사양서 작성법</a:t>
            </a:r>
            <a:endParaRPr/>
          </a:p>
        </p:txBody>
      </p:sp>
      <p:sp>
        <p:nvSpPr>
          <p:cNvPr id="123" name="Google Shape;123;p2"/>
          <p:cNvSpPr txBox="1"/>
          <p:nvPr>
            <p:ph idx="14" type="body"/>
          </p:nvPr>
        </p:nvSpPr>
        <p:spPr>
          <a:xfrm>
            <a:off x="4678914" y="4048489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lang="en-US">
                <a:solidFill>
                  <a:srgbClr val="4A8DCB"/>
                </a:solidFill>
              </a:rPr>
              <a:t>06.</a:t>
            </a:r>
            <a:endParaRPr>
              <a:solidFill>
                <a:srgbClr val="4A8DCB"/>
              </a:solidFill>
            </a:endParaRPr>
          </a:p>
        </p:txBody>
      </p:sp>
      <p:sp>
        <p:nvSpPr>
          <p:cNvPr id="124" name="Google Shape;124;p2"/>
          <p:cNvSpPr txBox="1"/>
          <p:nvPr>
            <p:ph idx="15" type="body"/>
          </p:nvPr>
        </p:nvSpPr>
        <p:spPr>
          <a:xfrm>
            <a:off x="4678914" y="4708218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개발 Tool 별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Sample Source 설명</a:t>
            </a:r>
            <a:endParaRPr/>
          </a:p>
        </p:txBody>
      </p:sp>
      <p:sp>
        <p:nvSpPr>
          <p:cNvPr id="125" name="Google Shape;125;p2"/>
          <p:cNvSpPr txBox="1"/>
          <p:nvPr>
            <p:ph idx="16" type="body"/>
          </p:nvPr>
        </p:nvSpPr>
        <p:spPr>
          <a:xfrm>
            <a:off x="7826184" y="4033912"/>
            <a:ext cx="1208760" cy="5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lang="en-US">
                <a:solidFill>
                  <a:srgbClr val="4A8DCB"/>
                </a:solidFill>
              </a:rPr>
              <a:t>07.</a:t>
            </a:r>
            <a:endParaRPr>
              <a:solidFill>
                <a:srgbClr val="4A8DCB"/>
              </a:solidFill>
            </a:endParaRPr>
          </a:p>
        </p:txBody>
      </p:sp>
      <p:sp>
        <p:nvSpPr>
          <p:cNvPr id="126" name="Google Shape;126;p2"/>
          <p:cNvSpPr txBox="1"/>
          <p:nvPr>
            <p:ph idx="17" type="body"/>
          </p:nvPr>
        </p:nvSpPr>
        <p:spPr>
          <a:xfrm>
            <a:off x="7826184" y="4693641"/>
            <a:ext cx="241677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QnA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idx="1" type="body"/>
          </p:nvPr>
        </p:nvSpPr>
        <p:spPr>
          <a:xfrm>
            <a:off x="1773966" y="1242947"/>
            <a:ext cx="1640574" cy="11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72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33" name="Google Shape;133;p3"/>
          <p:cNvSpPr txBox="1"/>
          <p:nvPr>
            <p:ph idx="2" type="body"/>
          </p:nvPr>
        </p:nvSpPr>
        <p:spPr>
          <a:xfrm>
            <a:off x="3136105" y="3564323"/>
            <a:ext cx="712549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SECS/GEM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개요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>
            <p:ph type="title"/>
          </p:nvPr>
        </p:nvSpPr>
        <p:spPr>
          <a:xfrm>
            <a:off x="923635" y="310001"/>
            <a:ext cx="10016892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SECS/GEM 개요</a:t>
            </a:r>
            <a:endParaRPr/>
          </a:p>
        </p:txBody>
      </p:sp>
      <p:sp>
        <p:nvSpPr>
          <p:cNvPr id="140" name="Google Shape;140;p4"/>
          <p:cNvSpPr txBox="1"/>
          <p:nvPr>
            <p:ph idx="2" type="body"/>
          </p:nvPr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01.</a:t>
            </a:r>
            <a:endParaRPr/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41621" l="0" r="0" t="40204"/>
          <a:stretch/>
        </p:blipFill>
        <p:spPr>
          <a:xfrm>
            <a:off x="6002414" y="2913356"/>
            <a:ext cx="5674086" cy="1031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058" y="1945828"/>
            <a:ext cx="5125114" cy="324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/>
        </p:nvSpPr>
        <p:spPr>
          <a:xfrm rot="-1032805">
            <a:off x="1964475" y="4029459"/>
            <a:ext cx="76442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protocol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4"/>
          <p:cNvSpPr txBox="1"/>
          <p:nvPr/>
        </p:nvSpPr>
        <p:spPr>
          <a:xfrm rot="1317996">
            <a:off x="3044913" y="3916602"/>
            <a:ext cx="76442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protocol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4"/>
          <p:cNvSpPr txBox="1"/>
          <p:nvPr/>
        </p:nvSpPr>
        <p:spPr>
          <a:xfrm rot="-804193">
            <a:off x="916678" y="3741079"/>
            <a:ext cx="76442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protocol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4"/>
          <p:cNvSpPr txBox="1"/>
          <p:nvPr/>
        </p:nvSpPr>
        <p:spPr>
          <a:xfrm rot="2744616">
            <a:off x="2849959" y="2632583"/>
            <a:ext cx="6141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protocol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>
            <p:ph type="title"/>
          </p:nvPr>
        </p:nvSpPr>
        <p:spPr>
          <a:xfrm>
            <a:off x="923635" y="310001"/>
            <a:ext cx="10016892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SECS/GEM 개요</a:t>
            </a:r>
            <a:endParaRPr/>
          </a:p>
        </p:txBody>
      </p:sp>
      <p:sp>
        <p:nvSpPr>
          <p:cNvPr id="153" name="Google Shape;153;p5"/>
          <p:cNvSpPr txBox="1"/>
          <p:nvPr>
            <p:ph idx="2" type="body"/>
          </p:nvPr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01.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1875928" y="3796761"/>
            <a:ext cx="1202091" cy="1234073"/>
          </a:xfrm>
          <a:prstGeom prst="ellipse">
            <a:avLst/>
          </a:prstGeom>
          <a:solidFill>
            <a:srgbClr val="72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2133650" y="4099532"/>
            <a:ext cx="7008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E4</a:t>
            </a:r>
            <a:endParaRPr sz="2800">
              <a:solidFill>
                <a:schemeClr val="lt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398702" y="1580706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물리적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751955" y="3824156"/>
            <a:ext cx="1216275" cy="1216275"/>
          </a:xfrm>
          <a:prstGeom prst="ellipse">
            <a:avLst/>
          </a:prstGeom>
          <a:solidFill>
            <a:srgbClr val="72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4898737" y="4109129"/>
            <a:ext cx="8915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E37</a:t>
            </a:r>
            <a:endParaRPr sz="2800">
              <a:solidFill>
                <a:schemeClr val="lt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59" name="Google Shape;159;p5"/>
          <p:cNvSpPr/>
          <p:nvPr/>
        </p:nvSpPr>
        <p:spPr>
          <a:xfrm flipH="1" rot="10800000">
            <a:off x="398703" y="1485652"/>
            <a:ext cx="5569528" cy="45719"/>
          </a:xfrm>
          <a:prstGeom prst="rect">
            <a:avLst/>
          </a:prstGeom>
          <a:solidFill>
            <a:srgbClr val="72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0" name="Google Shape;160;p5"/>
          <p:cNvCxnSpPr/>
          <p:nvPr/>
        </p:nvCxnSpPr>
        <p:spPr>
          <a:xfrm>
            <a:off x="398703" y="2001753"/>
            <a:ext cx="2679316" cy="0"/>
          </a:xfrm>
          <a:prstGeom prst="straightConnector1">
            <a:avLst/>
          </a:prstGeom>
          <a:noFill/>
          <a:ln cap="flat" cmpd="sng" w="952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" name="Google Shape;161;p5"/>
          <p:cNvCxnSpPr/>
          <p:nvPr/>
        </p:nvCxnSpPr>
        <p:spPr>
          <a:xfrm>
            <a:off x="3288914" y="2001753"/>
            <a:ext cx="2679316" cy="0"/>
          </a:xfrm>
          <a:prstGeom prst="straightConnector1">
            <a:avLst/>
          </a:prstGeom>
          <a:noFill/>
          <a:ln cap="flat" cmpd="sng" w="952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" name="Google Shape;162;p5"/>
          <p:cNvCxnSpPr/>
          <p:nvPr/>
        </p:nvCxnSpPr>
        <p:spPr>
          <a:xfrm>
            <a:off x="6179125" y="2001753"/>
            <a:ext cx="2679316" cy="0"/>
          </a:xfrm>
          <a:prstGeom prst="straightConnector1">
            <a:avLst/>
          </a:prstGeom>
          <a:noFill/>
          <a:ln cap="flat" cmpd="sng" w="952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5"/>
          <p:cNvCxnSpPr/>
          <p:nvPr/>
        </p:nvCxnSpPr>
        <p:spPr>
          <a:xfrm>
            <a:off x="9069336" y="2001753"/>
            <a:ext cx="2679316" cy="0"/>
          </a:xfrm>
          <a:prstGeom prst="straightConnector1">
            <a:avLst/>
          </a:prstGeom>
          <a:noFill/>
          <a:ln cap="flat" cmpd="sng" w="952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5"/>
          <p:cNvSpPr txBox="1"/>
          <p:nvPr/>
        </p:nvSpPr>
        <p:spPr>
          <a:xfrm>
            <a:off x="394087" y="2056375"/>
            <a:ext cx="9765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RS232C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3293385" y="2056375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이더넷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6179125" y="1580706"/>
            <a:ext cx="1338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소프트웨어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6174510" y="2056375"/>
            <a:ext cx="11079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프로토콜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9073808" y="2056375"/>
            <a:ext cx="11079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시나리오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7642166" y="3796761"/>
            <a:ext cx="1216275" cy="1216275"/>
          </a:xfrm>
          <a:prstGeom prst="ellipse">
            <a:avLst/>
          </a:prstGeom>
          <a:solidFill>
            <a:srgbClr val="4A8D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7899888" y="4081734"/>
            <a:ext cx="6783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E5</a:t>
            </a:r>
            <a:endParaRPr sz="2800">
              <a:solidFill>
                <a:schemeClr val="lt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0532376" y="3824156"/>
            <a:ext cx="1216275" cy="1216275"/>
          </a:xfrm>
          <a:prstGeom prst="ellipse">
            <a:avLst/>
          </a:prstGeom>
          <a:solidFill>
            <a:srgbClr val="4A8D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10649033" y="4109127"/>
            <a:ext cx="9605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E30</a:t>
            </a:r>
            <a:endParaRPr sz="2800">
              <a:solidFill>
                <a:schemeClr val="lt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73" name="Google Shape;173;p5"/>
          <p:cNvSpPr/>
          <p:nvPr/>
        </p:nvSpPr>
        <p:spPr>
          <a:xfrm flipH="1" rot="10800000">
            <a:off x="6179123" y="1481116"/>
            <a:ext cx="5569528" cy="45719"/>
          </a:xfrm>
          <a:prstGeom prst="rect">
            <a:avLst/>
          </a:prstGeom>
          <a:solidFill>
            <a:srgbClr val="4A8D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Google Shape;179;p6"/>
          <p:cNvCxnSpPr/>
          <p:nvPr/>
        </p:nvCxnSpPr>
        <p:spPr>
          <a:xfrm>
            <a:off x="7612241" y="4635848"/>
            <a:ext cx="3149642" cy="0"/>
          </a:xfrm>
          <a:prstGeom prst="straightConnector1">
            <a:avLst/>
          </a:prstGeom>
          <a:noFill/>
          <a:ln cap="flat" cmpd="sng" w="9525">
            <a:solidFill>
              <a:srgbClr val="4A8DCB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0" name="Google Shape;180;p6"/>
          <p:cNvCxnSpPr/>
          <p:nvPr/>
        </p:nvCxnSpPr>
        <p:spPr>
          <a:xfrm rot="10800000">
            <a:off x="7596653" y="5159174"/>
            <a:ext cx="3165230" cy="0"/>
          </a:xfrm>
          <a:prstGeom prst="straightConnector1">
            <a:avLst/>
          </a:prstGeom>
          <a:noFill/>
          <a:ln cap="flat" cmpd="sng" w="9525">
            <a:solidFill>
              <a:srgbClr val="72717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1" name="Google Shape;181;p6"/>
          <p:cNvSpPr txBox="1"/>
          <p:nvPr>
            <p:ph type="title"/>
          </p:nvPr>
        </p:nvSpPr>
        <p:spPr>
          <a:xfrm>
            <a:off x="923635" y="310001"/>
            <a:ext cx="10016892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SECS/GEM 개요</a:t>
            </a:r>
            <a:endParaRPr/>
          </a:p>
        </p:txBody>
      </p:sp>
      <p:sp>
        <p:nvSpPr>
          <p:cNvPr id="182" name="Google Shape;182;p6"/>
          <p:cNvSpPr txBox="1"/>
          <p:nvPr>
            <p:ph idx="2" type="body"/>
          </p:nvPr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01.</a:t>
            </a:r>
            <a:endParaRPr/>
          </a:p>
        </p:txBody>
      </p:sp>
      <p:cxnSp>
        <p:nvCxnSpPr>
          <p:cNvPr id="183" name="Google Shape;183;p6"/>
          <p:cNvCxnSpPr/>
          <p:nvPr/>
        </p:nvCxnSpPr>
        <p:spPr>
          <a:xfrm rot="10800000">
            <a:off x="7596653" y="2522136"/>
            <a:ext cx="3165230" cy="0"/>
          </a:xfrm>
          <a:prstGeom prst="straightConnector1">
            <a:avLst/>
          </a:prstGeom>
          <a:noFill/>
          <a:ln cap="flat" cmpd="sng" w="9525">
            <a:solidFill>
              <a:srgbClr val="72717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" name="Google Shape;184;p6"/>
          <p:cNvCxnSpPr/>
          <p:nvPr/>
        </p:nvCxnSpPr>
        <p:spPr>
          <a:xfrm>
            <a:off x="7612241" y="3045462"/>
            <a:ext cx="3149642" cy="0"/>
          </a:xfrm>
          <a:prstGeom prst="straightConnector1">
            <a:avLst/>
          </a:prstGeom>
          <a:noFill/>
          <a:ln cap="flat" cmpd="sng" w="9525">
            <a:solidFill>
              <a:srgbClr val="4A8DCB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5" name="Google Shape;185;p6"/>
          <p:cNvSpPr txBox="1"/>
          <p:nvPr/>
        </p:nvSpPr>
        <p:spPr>
          <a:xfrm>
            <a:off x="7115465" y="1174165"/>
            <a:ext cx="481222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Host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8450685" y="3184462"/>
            <a:ext cx="1452642" cy="53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8DCB"/>
                </a:solidFill>
                <a:latin typeface="Malgun Gothic"/>
                <a:ea typeface="Malgun Gothic"/>
                <a:cs typeface="Malgun Gothic"/>
                <a:sym typeface="Malgun Gothic"/>
              </a:rPr>
              <a:t>S6F12</a:t>
            </a:r>
            <a:endParaRPr b="1" sz="1400">
              <a:solidFill>
                <a:srgbClr val="4A8DC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Secondary message</a:t>
            </a:r>
            <a:endParaRPr b="1" sz="1100">
              <a:solidFill>
                <a:srgbClr val="7271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7333218" y="1783581"/>
            <a:ext cx="45719" cy="4064555"/>
          </a:xfrm>
          <a:prstGeom prst="rect">
            <a:avLst/>
          </a:prstGeom>
          <a:solidFill>
            <a:srgbClr val="727171">
              <a:alpha val="4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6"/>
          <p:cNvSpPr/>
          <p:nvPr/>
        </p:nvSpPr>
        <p:spPr>
          <a:xfrm flipH="1">
            <a:off x="10929357" y="1781070"/>
            <a:ext cx="45719" cy="4064546"/>
          </a:xfrm>
          <a:prstGeom prst="rect">
            <a:avLst/>
          </a:prstGeom>
          <a:solidFill>
            <a:srgbClr val="727171">
              <a:alpha val="4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8552113" y="1880582"/>
            <a:ext cx="1269898" cy="53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27171"/>
                </a:solidFill>
                <a:latin typeface="Malgun Gothic"/>
                <a:ea typeface="Malgun Gothic"/>
                <a:cs typeface="Malgun Gothic"/>
                <a:sym typeface="Malgun Gothic"/>
              </a:rPr>
              <a:t>S6F11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Primary message</a:t>
            </a:r>
            <a:endParaRPr b="1" sz="1100">
              <a:solidFill>
                <a:srgbClr val="7271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10515239" y="1203795"/>
            <a:ext cx="873957" cy="53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endParaRPr b="1"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Equipment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8450685" y="5264957"/>
            <a:ext cx="1452642" cy="53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27171"/>
                </a:solidFill>
                <a:latin typeface="Malgun Gothic"/>
                <a:ea typeface="Malgun Gothic"/>
                <a:cs typeface="Malgun Gothic"/>
                <a:sym typeface="Malgun Gothic"/>
              </a:rPr>
              <a:t>S10F04</a:t>
            </a:r>
            <a:endParaRPr b="1" sz="1400">
              <a:solidFill>
                <a:srgbClr val="7271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Secondary message</a:t>
            </a:r>
            <a:endParaRPr b="1" sz="1100">
              <a:solidFill>
                <a:srgbClr val="7271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8552113" y="3961077"/>
            <a:ext cx="1269898" cy="53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8DCB"/>
                </a:solidFill>
                <a:latin typeface="Malgun Gothic"/>
                <a:ea typeface="Malgun Gothic"/>
                <a:cs typeface="Malgun Gothic"/>
                <a:sym typeface="Malgun Gothic"/>
              </a:rPr>
              <a:t>S10F03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Primary message</a:t>
            </a:r>
            <a:endParaRPr b="1" sz="1100">
              <a:solidFill>
                <a:srgbClr val="7271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805103" y="2438907"/>
            <a:ext cx="5889754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00">
                <a:solidFill>
                  <a:srgbClr val="4A8DCB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r>
              <a:rPr b="1" lang="en-US" sz="13800">
                <a:solidFill>
                  <a:srgbClr val="727171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r>
              <a:rPr b="1" lang="en-US" sz="13800">
                <a:solidFill>
                  <a:srgbClr val="4A8DCB"/>
                </a:solidFill>
                <a:latin typeface="Malgun Gothic"/>
                <a:ea typeface="Malgun Gothic"/>
                <a:cs typeface="Malgun Gothic"/>
                <a:sym typeface="Malgun Gothic"/>
              </a:rPr>
              <a:t>F</a:t>
            </a:r>
            <a:r>
              <a:rPr b="1" lang="en-US" sz="13800">
                <a:solidFill>
                  <a:srgbClr val="7271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1" sz="1600">
              <a:solidFill>
                <a:srgbClr val="7271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4994928" y="5418844"/>
            <a:ext cx="116570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727171"/>
                </a:solidFill>
                <a:latin typeface="Malgun Gothic"/>
                <a:ea typeface="Malgun Gothic"/>
                <a:cs typeface="Malgun Gothic"/>
                <a:sym typeface="Malgun Gothic"/>
              </a:rPr>
              <a:t>255</a:t>
            </a:r>
            <a:endParaRPr b="1" sz="1800">
              <a:solidFill>
                <a:srgbClr val="7271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2206681" y="5418845"/>
            <a:ext cx="116570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72717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127</a:t>
            </a:r>
            <a:endParaRPr b="1" sz="1800">
              <a:solidFill>
                <a:srgbClr val="7271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2533694" y="1043412"/>
            <a:ext cx="51167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72717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sz="1200">
              <a:solidFill>
                <a:srgbClr val="7271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5321941" y="1043412"/>
            <a:ext cx="51167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72717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1" sz="1800">
              <a:solidFill>
                <a:srgbClr val="72717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2755479" y="1979526"/>
            <a:ext cx="80387" cy="803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755479" y="2224166"/>
            <a:ext cx="80387" cy="803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2755479" y="2468806"/>
            <a:ext cx="80387" cy="803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5539991" y="1979526"/>
            <a:ext cx="80387" cy="803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539991" y="2224166"/>
            <a:ext cx="80387" cy="803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539991" y="2468806"/>
            <a:ext cx="80387" cy="803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2755479" y="4615715"/>
            <a:ext cx="80387" cy="803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2755479" y="4860355"/>
            <a:ext cx="80387" cy="803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2755479" y="5104995"/>
            <a:ext cx="80387" cy="803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539991" y="4615715"/>
            <a:ext cx="80387" cy="803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539991" y="4860355"/>
            <a:ext cx="80387" cy="803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539991" y="5104995"/>
            <a:ext cx="80387" cy="803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>
            <p:ph type="title"/>
          </p:nvPr>
        </p:nvSpPr>
        <p:spPr>
          <a:xfrm>
            <a:off x="923635" y="310001"/>
            <a:ext cx="10016892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SECS/GEM 개요</a:t>
            </a:r>
            <a:endParaRPr/>
          </a:p>
        </p:txBody>
      </p:sp>
      <p:sp>
        <p:nvSpPr>
          <p:cNvPr id="216" name="Google Shape;216;p7"/>
          <p:cNvSpPr txBox="1"/>
          <p:nvPr>
            <p:ph idx="2" type="body"/>
          </p:nvPr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01.</a:t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451135" y="1013789"/>
            <a:ext cx="5229730" cy="5229730"/>
          </a:xfrm>
          <a:prstGeom prst="ellipse">
            <a:avLst/>
          </a:prstGeom>
          <a:solidFill>
            <a:srgbClr val="4A8D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7326416" y="2982724"/>
            <a:ext cx="80432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Variables</a:t>
            </a:r>
            <a:endParaRPr b="1"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9" name="Google Shape;219;p7"/>
          <p:cNvGrpSpPr/>
          <p:nvPr/>
        </p:nvGrpSpPr>
        <p:grpSpPr>
          <a:xfrm>
            <a:off x="3403276" y="1916013"/>
            <a:ext cx="2371804" cy="2371804"/>
            <a:chOff x="1670961" y="1271579"/>
            <a:chExt cx="2371804" cy="2371804"/>
          </a:xfrm>
        </p:grpSpPr>
        <p:sp>
          <p:nvSpPr>
            <p:cNvPr id="220" name="Google Shape;220;p7"/>
            <p:cNvSpPr/>
            <p:nvPr/>
          </p:nvSpPr>
          <p:spPr>
            <a:xfrm>
              <a:off x="1670961" y="1271579"/>
              <a:ext cx="2371804" cy="2371804"/>
            </a:xfrm>
            <a:prstGeom prst="ellipse">
              <a:avLst/>
            </a:prstGeom>
            <a:noFill/>
            <a:ln cap="flat" cmpd="sng" w="50800">
              <a:solidFill>
                <a:srgbClr val="4A8DC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2495963" y="1949650"/>
              <a:ext cx="7218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4A8DC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</a:t>
              </a:r>
              <a:endParaRPr b="1" sz="4000">
                <a:solidFill>
                  <a:srgbClr val="4A8DCB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A8DCB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Reports</a:t>
              </a:r>
              <a:endParaRPr sz="1400">
                <a:solidFill>
                  <a:srgbClr val="4A8DCB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22" name="Google Shape;222;p7"/>
          <p:cNvGrpSpPr/>
          <p:nvPr/>
        </p:nvGrpSpPr>
        <p:grpSpPr>
          <a:xfrm>
            <a:off x="536143" y="3213156"/>
            <a:ext cx="2371804" cy="2371804"/>
            <a:chOff x="230909" y="3348343"/>
            <a:chExt cx="2371804" cy="2371804"/>
          </a:xfrm>
        </p:grpSpPr>
        <p:sp>
          <p:nvSpPr>
            <p:cNvPr id="223" name="Google Shape;223;p7"/>
            <p:cNvSpPr/>
            <p:nvPr/>
          </p:nvSpPr>
          <p:spPr>
            <a:xfrm>
              <a:off x="230909" y="3348343"/>
              <a:ext cx="2371804" cy="2371804"/>
            </a:xfrm>
            <a:prstGeom prst="ellipse">
              <a:avLst/>
            </a:prstGeom>
            <a:solidFill>
              <a:srgbClr val="72717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4" name="Google Shape;224;p7"/>
            <p:cNvSpPr txBox="1"/>
            <p:nvPr/>
          </p:nvSpPr>
          <p:spPr>
            <a:xfrm>
              <a:off x="726238" y="4026414"/>
              <a:ext cx="138114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CE</a:t>
              </a:r>
              <a:endParaRPr b="1" sz="4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Collection Events</a:t>
              </a:r>
              <a:endPara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25" name="Google Shape;225;p7"/>
          <p:cNvSpPr txBox="1"/>
          <p:nvPr/>
        </p:nvSpPr>
        <p:spPr>
          <a:xfrm>
            <a:off x="8912342" y="1630189"/>
            <a:ext cx="99257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Equipment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Constansts</a:t>
            </a:r>
            <a:endParaRPr b="1"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9977951" y="3188659"/>
            <a:ext cx="127990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SV</a:t>
            </a:r>
            <a:endParaRPr b="1" sz="2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Status Variables</a:t>
            </a:r>
            <a:endParaRPr b="1"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8817316" y="4721670"/>
            <a:ext cx="118263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Variables</a:t>
            </a:r>
            <a:endParaRPr b="1" sz="2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563927" y="1293316"/>
            <a:ext cx="1689408" cy="1689408"/>
          </a:xfrm>
          <a:prstGeom prst="ellipse">
            <a:avLst/>
          </a:prstGeom>
          <a:noFill/>
          <a:ln cap="flat" cmpd="sng" w="50800">
            <a:solidFill>
              <a:schemeClr val="lt1">
                <a:alpha val="4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9773198" y="2759453"/>
            <a:ext cx="1689408" cy="1689408"/>
          </a:xfrm>
          <a:prstGeom prst="ellipse">
            <a:avLst/>
          </a:prstGeom>
          <a:noFill/>
          <a:ln cap="flat" cmpd="sng" w="50800">
            <a:solidFill>
              <a:schemeClr val="lt1">
                <a:alpha val="4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563927" y="4292464"/>
            <a:ext cx="1689408" cy="1689408"/>
          </a:xfrm>
          <a:prstGeom prst="ellipse">
            <a:avLst/>
          </a:prstGeom>
          <a:noFill/>
          <a:ln cap="flat" cmpd="sng" w="50800">
            <a:solidFill>
              <a:schemeClr val="lt1">
                <a:alpha val="4980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/>
          <p:nvPr>
            <p:ph idx="1" type="body"/>
          </p:nvPr>
        </p:nvSpPr>
        <p:spPr>
          <a:xfrm>
            <a:off x="1773966" y="1242947"/>
            <a:ext cx="1640574" cy="11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72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237" name="Google Shape;237;p8"/>
          <p:cNvSpPr txBox="1"/>
          <p:nvPr>
            <p:ph idx="2" type="body"/>
          </p:nvPr>
        </p:nvSpPr>
        <p:spPr>
          <a:xfrm>
            <a:off x="3136105" y="3573560"/>
            <a:ext cx="712549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UbiGEM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소개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 txBox="1"/>
          <p:nvPr>
            <p:ph type="title"/>
          </p:nvPr>
        </p:nvSpPr>
        <p:spPr>
          <a:xfrm>
            <a:off x="923635" y="310001"/>
            <a:ext cx="10016892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소개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484094" y="3958814"/>
            <a:ext cx="11513371" cy="2586864"/>
          </a:xfrm>
          <a:prstGeom prst="rect">
            <a:avLst/>
          </a:prstGeom>
          <a:solidFill>
            <a:srgbClr val="727171">
              <a:alpha val="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p9"/>
          <p:cNvSpPr txBox="1"/>
          <p:nvPr>
            <p:ph idx="2" type="body"/>
          </p:nvPr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02.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831104" y="1021977"/>
            <a:ext cx="2420471" cy="441063"/>
          </a:xfrm>
          <a:prstGeom prst="rect">
            <a:avLst/>
          </a:prstGeom>
          <a:solidFill>
            <a:srgbClr val="72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p9"/>
          <p:cNvSpPr txBox="1"/>
          <p:nvPr>
            <p:ph idx="1" type="body"/>
          </p:nvPr>
        </p:nvSpPr>
        <p:spPr>
          <a:xfrm>
            <a:off x="591670" y="4055633"/>
            <a:ext cx="3506993" cy="2490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b="1" lang="en-US" sz="2800">
                <a:solidFill>
                  <a:srgbClr val="4A8DCB"/>
                </a:solidFill>
                <a:latin typeface="Malgun Gothic"/>
                <a:ea typeface="Malgun Gothic"/>
                <a:cs typeface="Malgun Gothic"/>
                <a:sym typeface="Malgun Gothic"/>
              </a:rPr>
              <a:t>UbiGEM</a:t>
            </a:r>
            <a:endParaRPr b="1" sz="2800">
              <a:solidFill>
                <a:srgbClr val="4A8DC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C# / C++ / Vbnet 지원 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사용자 정의 Message 지원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SEMI의 SECS 사양 기반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Microsoft .NET Framework 4.5</a:t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246580" y="1129553"/>
            <a:ext cx="2420471" cy="4966625"/>
          </a:xfrm>
          <a:prstGeom prst="rect">
            <a:avLst/>
          </a:prstGeom>
          <a:blipFill rotWithShape="1">
            <a:blip r:embed="rId3">
              <a:alphaModFix amt="92000"/>
            </a:blip>
            <a:tile algn="ctr" flip="none" tx="-565150" sx="100000" ty="393700" sy="100000"/>
          </a:blip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831104" y="1579053"/>
            <a:ext cx="2420471" cy="4966625"/>
          </a:xfrm>
          <a:prstGeom prst="rect">
            <a:avLst/>
          </a:prstGeom>
          <a:blipFill rotWithShape="1">
            <a:blip r:embed="rId4">
              <a:alphaModFix/>
            </a:blip>
            <a:tile algn="br" flip="none" tx="3136900" sx="100000" ty="2095500" sy="100000"/>
          </a:blip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9415628" y="1360842"/>
            <a:ext cx="2420471" cy="4966625"/>
          </a:xfrm>
          <a:prstGeom prst="rect">
            <a:avLst/>
          </a:prstGeom>
          <a:blipFill rotWithShape="1">
            <a:blip r:embed="rId5">
              <a:alphaModFix amt="92000"/>
            </a:blip>
            <a:tile algn="ctr" flip="none" tx="1016000" sx="100000" ty="0" sy="100000"/>
          </a:blip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 txBox="1"/>
          <p:nvPr>
            <p:ph idx="1" type="body"/>
          </p:nvPr>
        </p:nvSpPr>
        <p:spPr>
          <a:xfrm>
            <a:off x="1773966" y="1242947"/>
            <a:ext cx="1640574" cy="11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72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257" name="Google Shape;257;p10"/>
          <p:cNvSpPr txBox="1"/>
          <p:nvPr>
            <p:ph idx="2" type="body"/>
          </p:nvPr>
        </p:nvSpPr>
        <p:spPr>
          <a:xfrm>
            <a:off x="3136105" y="3573560"/>
            <a:ext cx="712549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UbiGEM Configuration Tool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사용법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3-1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Configuration 설정</a:t>
            </a:r>
            <a:endParaRPr b="1" sz="1400">
              <a:solidFill>
                <a:srgbClr val="4A8DCB"/>
              </a:solidFill>
            </a:endParaRPr>
          </a:p>
        </p:txBody>
      </p:sp>
      <p:sp>
        <p:nvSpPr>
          <p:cNvPr id="264" name="Google Shape;264;p11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</a:t>
            </a:r>
            <a:endParaRPr/>
          </a:p>
        </p:txBody>
      </p:sp>
      <p:sp>
        <p:nvSpPr>
          <p:cNvPr id="265" name="Google Shape;265;p11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sp>
        <p:nvSpPr>
          <p:cNvPr id="266" name="Google Shape;266;p11"/>
          <p:cNvSpPr txBox="1"/>
          <p:nvPr>
            <p:ph idx="1" type="body"/>
          </p:nvPr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b="0" i="0" sz="24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267" name="Google Shape;2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480" y="2396067"/>
            <a:ext cx="11694158" cy="345523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268" name="Google Shape;26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3080" y="1011676"/>
            <a:ext cx="903148" cy="791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1"/>
          <p:cNvPicPr preferRelativeResize="0"/>
          <p:nvPr/>
        </p:nvPicPr>
        <p:blipFill rotWithShape="1">
          <a:blip r:embed="rId5">
            <a:alphaModFix/>
          </a:blip>
          <a:srcRect b="34188" l="0" r="0" t="238"/>
          <a:stretch/>
        </p:blipFill>
        <p:spPr>
          <a:xfrm>
            <a:off x="284478" y="2010003"/>
            <a:ext cx="5625255" cy="1310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3-1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Configuration 설정</a:t>
            </a:r>
            <a:endParaRPr b="1" sz="1400">
              <a:solidFill>
                <a:srgbClr val="4A8DCB"/>
              </a:solidFill>
            </a:endParaRPr>
          </a:p>
        </p:txBody>
      </p:sp>
      <p:sp>
        <p:nvSpPr>
          <p:cNvPr id="276" name="Google Shape;276;p12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</a:t>
            </a:r>
            <a:endParaRPr/>
          </a:p>
        </p:txBody>
      </p:sp>
      <p:sp>
        <p:nvSpPr>
          <p:cNvPr id="277" name="Google Shape;277;p12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278" name="Google Shape;278;p12"/>
          <p:cNvPicPr preferRelativeResize="0"/>
          <p:nvPr/>
        </p:nvPicPr>
        <p:blipFill rotWithShape="1">
          <a:blip r:embed="rId3">
            <a:alphaModFix/>
          </a:blip>
          <a:srcRect b="0" l="0" r="51824" t="25974"/>
          <a:stretch/>
        </p:blipFill>
        <p:spPr>
          <a:xfrm>
            <a:off x="2152894" y="2434180"/>
            <a:ext cx="7665720" cy="348032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279" name="Google Shape;27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3080" y="1011676"/>
            <a:ext cx="903148" cy="79132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2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3-1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Configuration 설정</a:t>
            </a:r>
            <a:endParaRPr b="1" sz="1400">
              <a:solidFill>
                <a:srgbClr val="4A8DCB"/>
              </a:solidFill>
            </a:endParaRPr>
          </a:p>
        </p:txBody>
      </p:sp>
      <p:sp>
        <p:nvSpPr>
          <p:cNvPr id="287" name="Google Shape;287;p13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</a:t>
            </a:r>
            <a:endParaRPr/>
          </a:p>
        </p:txBody>
      </p:sp>
      <p:sp>
        <p:nvSpPr>
          <p:cNvPr id="288" name="Google Shape;288;p13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289" name="Google Shape;289;p13"/>
          <p:cNvPicPr preferRelativeResize="0"/>
          <p:nvPr/>
        </p:nvPicPr>
        <p:blipFill rotWithShape="1">
          <a:blip r:embed="rId3">
            <a:alphaModFix/>
          </a:blip>
          <a:srcRect b="59323" l="51867" r="0" t="0"/>
          <a:stretch/>
        </p:blipFill>
        <p:spPr>
          <a:xfrm>
            <a:off x="2052582" y="3137175"/>
            <a:ext cx="8307330" cy="207433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290" name="Google Shape;2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3080" y="1011676"/>
            <a:ext cx="903148" cy="79132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3"/>
          <p:cNvSpPr/>
          <p:nvPr/>
        </p:nvSpPr>
        <p:spPr>
          <a:xfrm>
            <a:off x="4895850" y="4257675"/>
            <a:ext cx="295275" cy="238125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4871461" y="4442746"/>
            <a:ext cx="295275" cy="45719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3-1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Configuration 설정</a:t>
            </a:r>
            <a:endParaRPr b="1" sz="1400">
              <a:solidFill>
                <a:srgbClr val="4A8DCB"/>
              </a:solidFill>
            </a:endParaRPr>
          </a:p>
        </p:txBody>
      </p:sp>
      <p:sp>
        <p:nvSpPr>
          <p:cNvPr id="300" name="Google Shape;300;p14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</a:t>
            </a:r>
            <a:endParaRPr/>
          </a:p>
        </p:txBody>
      </p:sp>
      <p:sp>
        <p:nvSpPr>
          <p:cNvPr id="301" name="Google Shape;301;p14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302" name="Google Shape;302;p14"/>
          <p:cNvPicPr preferRelativeResize="0"/>
          <p:nvPr/>
        </p:nvPicPr>
        <p:blipFill rotWithShape="1">
          <a:blip r:embed="rId3">
            <a:alphaModFix/>
          </a:blip>
          <a:srcRect b="28203" l="52012" r="261" t="40921"/>
          <a:stretch/>
        </p:blipFill>
        <p:spPr>
          <a:xfrm>
            <a:off x="1909124" y="3285149"/>
            <a:ext cx="8547209" cy="163379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303" name="Google Shape;3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3080" y="1011676"/>
            <a:ext cx="903148" cy="79132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3-1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Configuration 설정</a:t>
            </a:r>
            <a:endParaRPr b="1" sz="1400">
              <a:solidFill>
                <a:srgbClr val="4A8DCB"/>
              </a:solidFill>
            </a:endParaRPr>
          </a:p>
        </p:txBody>
      </p:sp>
      <p:sp>
        <p:nvSpPr>
          <p:cNvPr id="311" name="Google Shape;311;p15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</a:t>
            </a:r>
            <a:endParaRPr/>
          </a:p>
        </p:txBody>
      </p:sp>
      <p:sp>
        <p:nvSpPr>
          <p:cNvPr id="312" name="Google Shape;312;p15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313" name="Google Shape;313;p15"/>
          <p:cNvPicPr preferRelativeResize="0"/>
          <p:nvPr/>
        </p:nvPicPr>
        <p:blipFill rotWithShape="1">
          <a:blip r:embed="rId3">
            <a:alphaModFix/>
          </a:blip>
          <a:srcRect b="0" l="51940" r="275" t="71796"/>
          <a:stretch/>
        </p:blipFill>
        <p:spPr>
          <a:xfrm>
            <a:off x="1933891" y="3425071"/>
            <a:ext cx="8544712" cy="149013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314" name="Google Shape;3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3080" y="1011676"/>
            <a:ext cx="903148" cy="79132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5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16"/>
          <p:cNvPicPr preferRelativeResize="0"/>
          <p:nvPr/>
        </p:nvPicPr>
        <p:blipFill rotWithShape="1">
          <a:blip r:embed="rId3">
            <a:alphaModFix/>
          </a:blip>
          <a:srcRect b="28158" l="-25857" r="25856" t="-2766"/>
          <a:stretch/>
        </p:blipFill>
        <p:spPr>
          <a:xfrm>
            <a:off x="-1398880" y="2789642"/>
            <a:ext cx="8544712" cy="226535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22" name="Google Shape;322;p16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3-1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Configuration 설정</a:t>
            </a:r>
            <a:endParaRPr b="1" sz="1400">
              <a:solidFill>
                <a:srgbClr val="4A8DCB"/>
              </a:solidFill>
            </a:endParaRPr>
          </a:p>
        </p:txBody>
      </p:sp>
      <p:sp>
        <p:nvSpPr>
          <p:cNvPr id="323" name="Google Shape;323;p16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</a:t>
            </a:r>
            <a:endParaRPr/>
          </a:p>
        </p:txBody>
      </p:sp>
      <p:sp>
        <p:nvSpPr>
          <p:cNvPr id="324" name="Google Shape;324;p16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325" name="Google Shape;3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3080" y="1011676"/>
            <a:ext cx="903148" cy="79132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6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327" name="Google Shape;3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6194" y="811786"/>
            <a:ext cx="3501559" cy="5619314"/>
          </a:xfrm>
          <a:prstGeom prst="rect">
            <a:avLst/>
          </a:prstGeom>
          <a:noFill/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3-2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Data Dictionary에서 Fomats 변경</a:t>
            </a:r>
            <a:endParaRPr b="1" sz="1400">
              <a:solidFill>
                <a:srgbClr val="4A8DCB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br>
              <a:rPr lang="en-US" sz="1400"/>
            </a:br>
            <a:r>
              <a:rPr lang="en-US" sz="1400"/>
              <a:t>    - CEID</a:t>
            </a:r>
            <a:br>
              <a:rPr lang="en-US" sz="1400"/>
            </a:br>
            <a:r>
              <a:rPr lang="en-US" sz="1400"/>
              <a:t>    - RTID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- VID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- ALID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- PPID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- TEXT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- TID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- EDID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- MEXP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그 외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(사양서 참조)</a:t>
            </a:r>
            <a:endParaRPr/>
          </a:p>
        </p:txBody>
      </p:sp>
      <p:sp>
        <p:nvSpPr>
          <p:cNvPr id="334" name="Google Shape;334;p17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335" name="Google Shape;3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667" y="1011677"/>
            <a:ext cx="633319" cy="824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1909" y="2150533"/>
            <a:ext cx="10216729" cy="440163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7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3-3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EC(장비상수) 추가&amp;설정</a:t>
            </a:r>
            <a:endParaRPr b="1" sz="1400">
              <a:solidFill>
                <a:srgbClr val="4A8DCB"/>
              </a:solidFill>
            </a:endParaRPr>
          </a:p>
        </p:txBody>
      </p:sp>
      <p:sp>
        <p:nvSpPr>
          <p:cNvPr id="344" name="Google Shape;344;p18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  - InitCommunicationState</a:t>
            </a:r>
            <a:endParaRPr sz="1400"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  - EstablishCommunicationsTimeout</a:t>
            </a:r>
            <a:endParaRPr sz="1400"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  - InitControlState</a:t>
            </a:r>
            <a:endParaRPr sz="1400"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  - TimeFormat</a:t>
            </a:r>
            <a:endParaRPr sz="1400"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  - OffLineSubState</a:t>
            </a:r>
            <a:endParaRPr sz="1400"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  - OnLineFailState</a:t>
            </a:r>
            <a:endParaRPr sz="1400"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  - OnLineSubState</a:t>
            </a:r>
            <a:endParaRPr sz="1400"/>
          </a:p>
        </p:txBody>
      </p:sp>
      <p:sp>
        <p:nvSpPr>
          <p:cNvPr id="345" name="Google Shape;345;p18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346" name="Google Shape;3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1661" y="1008986"/>
            <a:ext cx="706247" cy="84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570" y="3429000"/>
            <a:ext cx="11626537" cy="310202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348" name="Google Shape;3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40691" y="2209173"/>
            <a:ext cx="2469532" cy="2125367"/>
          </a:xfrm>
          <a:prstGeom prst="rect">
            <a:avLst/>
          </a:prstGeom>
          <a:noFill/>
          <a:ln>
            <a:noFill/>
          </a:ln>
          <a:effectLst>
            <a:outerShdw blurRad="1270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49" name="Google Shape;349;p18"/>
          <p:cNvSpPr/>
          <p:nvPr/>
        </p:nvSpPr>
        <p:spPr>
          <a:xfrm>
            <a:off x="8640691" y="4334541"/>
            <a:ext cx="2469532" cy="507048"/>
          </a:xfrm>
          <a:custGeom>
            <a:rect b="b" l="l" r="r" t="t"/>
            <a:pathLst>
              <a:path extrusionOk="0" h="507048" w="2469532">
                <a:moveTo>
                  <a:pt x="0" y="0"/>
                </a:moveTo>
                <a:lnTo>
                  <a:pt x="2469532" y="0"/>
                </a:lnTo>
                <a:lnTo>
                  <a:pt x="2168630" y="502285"/>
                </a:lnTo>
                <a:lnTo>
                  <a:pt x="1876786" y="50704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8"/>
              </a:gs>
              <a:gs pos="6000">
                <a:srgbClr val="1A2028"/>
              </a:gs>
              <a:gs pos="57512">
                <a:srgbClr val="3F3F3F">
                  <a:alpha val="36862"/>
                </a:srgbClr>
              </a:gs>
              <a:gs pos="100000">
                <a:srgbClr val="7F7F7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50" name="Google Shape;3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578" y="4822827"/>
            <a:ext cx="295316" cy="3143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2667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51" name="Google Shape;351;p18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3-4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Variables 추가&amp;설정</a:t>
            </a:r>
            <a:endParaRPr b="1" sz="1400">
              <a:solidFill>
                <a:srgbClr val="4A8DCB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br>
              <a:rPr lang="en-US" sz="1400"/>
            </a:br>
            <a:endParaRPr sz="1400"/>
          </a:p>
        </p:txBody>
      </p:sp>
      <p:sp>
        <p:nvSpPr>
          <p:cNvPr id="358" name="Google Shape;358;p19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359" name="Google Shape;3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3938" y="1018164"/>
            <a:ext cx="658555" cy="771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480" y="3040479"/>
            <a:ext cx="11683997" cy="350519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361" name="Google Shape;3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2443" y="1622657"/>
            <a:ext cx="1609038" cy="2449580"/>
          </a:xfrm>
          <a:prstGeom prst="rect">
            <a:avLst/>
          </a:prstGeom>
          <a:noFill/>
          <a:ln>
            <a:noFill/>
          </a:ln>
          <a:effectLst>
            <a:outerShdw blurRad="215900" sx="102000" rotWithShape="0" algn="tl" dir="2700000" dist="38100" sy="102000">
              <a:srgbClr val="000000">
                <a:alpha val="40000"/>
              </a:srgbClr>
            </a:outerShdw>
          </a:effectLst>
        </p:spPr>
      </p:pic>
      <p:sp>
        <p:nvSpPr>
          <p:cNvPr id="362" name="Google Shape;362;p19"/>
          <p:cNvSpPr/>
          <p:nvPr/>
        </p:nvSpPr>
        <p:spPr>
          <a:xfrm>
            <a:off x="9092443" y="4072236"/>
            <a:ext cx="1636919" cy="396127"/>
          </a:xfrm>
          <a:custGeom>
            <a:rect b="b" l="l" r="r" t="t"/>
            <a:pathLst>
              <a:path extrusionOk="0" h="479917" w="2512323">
                <a:moveTo>
                  <a:pt x="0" y="0"/>
                </a:moveTo>
                <a:lnTo>
                  <a:pt x="2469532" y="0"/>
                </a:lnTo>
                <a:lnTo>
                  <a:pt x="2512323" y="475155"/>
                </a:lnTo>
                <a:lnTo>
                  <a:pt x="2060089" y="47991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8"/>
              </a:gs>
              <a:gs pos="6000">
                <a:srgbClr val="1A2028"/>
              </a:gs>
              <a:gs pos="57512">
                <a:srgbClr val="3F3F3F">
                  <a:alpha val="36862"/>
                </a:srgbClr>
              </a:gs>
              <a:gs pos="100000">
                <a:srgbClr val="7F7F7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63" name="Google Shape;36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29736" y="4471996"/>
            <a:ext cx="295316" cy="3143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2667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64" name="Google Shape;364;p19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3-5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Reports 추가&amp;설정</a:t>
            </a:r>
            <a:br>
              <a:rPr lang="en-US" sz="1400"/>
            </a:br>
            <a:r>
              <a:rPr lang="en-US" sz="1400"/>
              <a:t>   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371" name="Google Shape;371;p20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372" name="Google Shape;3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7052" y="1018163"/>
            <a:ext cx="590632" cy="80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480" y="1913382"/>
            <a:ext cx="10130788" cy="466396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374" name="Google Shape;3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4665" y="122813"/>
            <a:ext cx="5374638" cy="303523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375" name="Google Shape;37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45381" y="3158044"/>
            <a:ext cx="338552" cy="3143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6" name="Google Shape;376;p20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3-6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Collection Events 추가&amp;설정</a:t>
            </a:r>
            <a:endParaRPr b="1" sz="1400">
              <a:solidFill>
                <a:srgbClr val="4A8DCB"/>
              </a:solidFill>
            </a:endParaRPr>
          </a:p>
        </p:txBody>
      </p:sp>
      <p:sp>
        <p:nvSpPr>
          <p:cNvPr id="383" name="Google Shape;383;p21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384" name="Google Shape;3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9518" y="1022154"/>
            <a:ext cx="629394" cy="796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480" y="3271354"/>
            <a:ext cx="11677945" cy="336957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386" name="Google Shape;38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1393" y="1011677"/>
            <a:ext cx="5176127" cy="276271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387" name="Google Shape;38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59809" y="1018163"/>
            <a:ext cx="2136191" cy="250289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88" name="Google Shape;388;p21"/>
          <p:cNvSpPr/>
          <p:nvPr/>
        </p:nvSpPr>
        <p:spPr>
          <a:xfrm>
            <a:off x="3959808" y="3527544"/>
            <a:ext cx="2136192" cy="1130080"/>
          </a:xfrm>
          <a:custGeom>
            <a:rect b="b" l="l" r="r" t="t"/>
            <a:pathLst>
              <a:path extrusionOk="0" h="480593" w="2469532">
                <a:moveTo>
                  <a:pt x="0" y="0"/>
                </a:moveTo>
                <a:lnTo>
                  <a:pt x="2469532" y="0"/>
                </a:lnTo>
                <a:lnTo>
                  <a:pt x="1666535" y="478756"/>
                </a:lnTo>
                <a:lnTo>
                  <a:pt x="1320741" y="4805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8"/>
              </a:gs>
              <a:gs pos="6000">
                <a:srgbClr val="1A2028"/>
              </a:gs>
              <a:gs pos="57512">
                <a:srgbClr val="3F3F3F">
                  <a:alpha val="36862"/>
                </a:srgbClr>
              </a:gs>
              <a:gs pos="100000">
                <a:srgbClr val="7F7F7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89" name="Google Shape;38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05261" y="4659666"/>
            <a:ext cx="295316" cy="3143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2667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90" name="Google Shape;390;p21"/>
          <p:cNvSpPr/>
          <p:nvPr/>
        </p:nvSpPr>
        <p:spPr>
          <a:xfrm>
            <a:off x="6731393" y="3774395"/>
            <a:ext cx="5231032" cy="882530"/>
          </a:xfrm>
          <a:custGeom>
            <a:rect b="b" l="l" r="r" t="t"/>
            <a:pathLst>
              <a:path extrusionOk="0" h="375317" w="2469532">
                <a:moveTo>
                  <a:pt x="0" y="0"/>
                </a:moveTo>
                <a:lnTo>
                  <a:pt x="2469532" y="0"/>
                </a:lnTo>
                <a:lnTo>
                  <a:pt x="2409277" y="374062"/>
                </a:lnTo>
                <a:lnTo>
                  <a:pt x="2247109" y="37531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8"/>
              </a:gs>
              <a:gs pos="6000">
                <a:srgbClr val="1A2028"/>
              </a:gs>
              <a:gs pos="57512">
                <a:srgbClr val="3F3F3F">
                  <a:alpha val="36862"/>
                </a:srgbClr>
              </a:gs>
              <a:gs pos="100000">
                <a:srgbClr val="7F7F7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91" name="Google Shape;39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92538" y="4659666"/>
            <a:ext cx="338552" cy="31436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2" name="Google Shape;392;p21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3-7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Remote Command 추가&amp;설정</a:t>
            </a:r>
            <a:endParaRPr b="1" sz="1400">
              <a:solidFill>
                <a:srgbClr val="4A8DCB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br>
              <a:rPr lang="en-US" sz="1400"/>
            </a:br>
            <a:endParaRPr sz="1400"/>
          </a:p>
        </p:txBody>
      </p:sp>
      <p:sp>
        <p:nvSpPr>
          <p:cNvPr id="399" name="Google Shape;399;p22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/>
          </a:p>
        </p:txBody>
      </p:sp>
      <p:sp>
        <p:nvSpPr>
          <p:cNvPr id="400" name="Google Shape;400;p22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401" name="Google Shape;4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5832" y="1011676"/>
            <a:ext cx="664736" cy="796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934" y="1897128"/>
            <a:ext cx="11576704" cy="299220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403" name="Google Shape;40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1934" y="4940660"/>
            <a:ext cx="11576704" cy="183854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404" name="Google Shape;40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507" y="3366897"/>
            <a:ext cx="1219370" cy="27626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405" name="Google Shape;40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8198" y="5215426"/>
            <a:ext cx="1857634" cy="2953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06" name="Google Shape;406;p22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3-8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Alarms 추가&amp;설정</a:t>
            </a:r>
            <a:endParaRPr b="1" sz="1400">
              <a:solidFill>
                <a:srgbClr val="4A8DCB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413" name="Google Shape;413;p23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Configuration Tool 사용법</a:t>
            </a:r>
            <a:endParaRPr/>
          </a:p>
        </p:txBody>
      </p:sp>
      <p:pic>
        <p:nvPicPr>
          <p:cNvPr id="414" name="Google Shape;4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2966" y="1018163"/>
            <a:ext cx="523532" cy="789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480" y="2784444"/>
            <a:ext cx="11725244" cy="2265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35990" y="4245983"/>
            <a:ext cx="647790" cy="2953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7" name="Google Shape;417;p23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03.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"/>
          <p:cNvSpPr txBox="1"/>
          <p:nvPr>
            <p:ph idx="1" type="body"/>
          </p:nvPr>
        </p:nvSpPr>
        <p:spPr>
          <a:xfrm>
            <a:off x="1773966" y="1242947"/>
            <a:ext cx="1640574" cy="11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7200"/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24" name="Google Shape;424;p24"/>
          <p:cNvSpPr txBox="1"/>
          <p:nvPr>
            <p:ph idx="2" type="body"/>
          </p:nvPr>
        </p:nvSpPr>
        <p:spPr>
          <a:xfrm>
            <a:off x="3136105" y="3573560"/>
            <a:ext cx="712549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UbiGEM HOST Simulator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사용법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4-1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Sample Sources 열기</a:t>
            </a:r>
            <a:endParaRPr b="1" sz="1400">
              <a:solidFill>
                <a:srgbClr val="4A8DCB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br>
              <a:rPr lang="en-US" sz="1400"/>
            </a:br>
            <a:r>
              <a:rPr lang="en-US" sz="1400"/>
              <a:t>    - 내문서 -&gt; UbiSam -&gt; UbiGEM -&gt; Samples </a:t>
            </a:r>
            <a:br>
              <a:rPr lang="en-US" sz="1400"/>
            </a:br>
            <a:r>
              <a:rPr lang="en-US" sz="1400"/>
              <a:t>      -&gt; Ubisam.GEM.Sample.CSharp </a:t>
            </a:r>
            <a:br>
              <a:rPr lang="en-US" sz="1400"/>
            </a:br>
            <a:r>
              <a:rPr lang="en-US" sz="1400"/>
              <a:t>      -&gt; UbiSam.GEM.Sample.CSharp.sln(c# file) </a:t>
            </a:r>
            <a:br>
              <a:rPr lang="en-US" sz="1400"/>
            </a:br>
            <a:r>
              <a:rPr lang="en-US" sz="1400"/>
              <a:t>      -&gt; File -&gt; Open UGC -&gt; Sample.ugc file select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-&gt; Driver -&gt; Initiailze -&gt; Start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431" name="Google Shape;431;p25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4-2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4A8DCB"/>
                </a:solidFill>
              </a:rPr>
              <a:t>HOST Simulator 열기</a:t>
            </a:r>
            <a:endParaRPr b="1" sz="1400">
              <a:solidFill>
                <a:srgbClr val="4A8DCB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br>
              <a:rPr lang="en-US" sz="1400"/>
            </a:br>
            <a:r>
              <a:rPr lang="en-US" sz="1400"/>
              <a:t>    - C Driver -&gt; Program Files -&gt; UbiSam -&gt; UbiGEM -&gt; BIN </a:t>
            </a:r>
            <a:br>
              <a:rPr lang="en-US" sz="1400"/>
            </a:br>
            <a:r>
              <a:rPr lang="en-US" sz="1400"/>
              <a:t>      -&gt; UbiGEM.Net.Simulator.Host</a:t>
            </a:r>
            <a:endParaRPr sz="1400"/>
          </a:p>
        </p:txBody>
      </p:sp>
      <p:sp>
        <p:nvSpPr>
          <p:cNvPr id="432" name="Google Shape;432;p25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HOST Simulator 사용법</a:t>
            </a:r>
            <a:endParaRPr/>
          </a:p>
        </p:txBody>
      </p:sp>
      <p:pic>
        <p:nvPicPr>
          <p:cNvPr id="433" name="Google Shape;433;p25"/>
          <p:cNvPicPr preferRelativeResize="0"/>
          <p:nvPr/>
        </p:nvPicPr>
        <p:blipFill rotWithShape="1">
          <a:blip r:embed="rId3">
            <a:alphaModFix/>
          </a:blip>
          <a:srcRect b="59475" l="0" r="0" t="21230"/>
          <a:stretch/>
        </p:blipFill>
        <p:spPr>
          <a:xfrm>
            <a:off x="6348227" y="4143375"/>
            <a:ext cx="362444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5"/>
          <p:cNvPicPr preferRelativeResize="0"/>
          <p:nvPr/>
        </p:nvPicPr>
        <p:blipFill rotWithShape="1">
          <a:blip r:embed="rId3">
            <a:alphaModFix/>
          </a:blip>
          <a:srcRect b="0" l="0" r="0" t="77354"/>
          <a:stretch/>
        </p:blipFill>
        <p:spPr>
          <a:xfrm>
            <a:off x="6348227" y="4647500"/>
            <a:ext cx="3624448" cy="335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677" y="4143375"/>
            <a:ext cx="3032969" cy="335377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5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04.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6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4-3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Sample Sources에 UGC File Load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br>
              <a:rPr lang="en-US" sz="1400"/>
            </a:br>
            <a:r>
              <a:rPr lang="en-US" sz="1400"/>
              <a:t>    - File -&gt; Open UGC -&gt; UGC File UpLoad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</a:t>
            </a:r>
            <a:r>
              <a:rPr lang="en-US" sz="1100">
                <a:solidFill>
                  <a:srgbClr val="4A8DCB"/>
                </a:solidFill>
              </a:rPr>
              <a:t>*</a:t>
            </a:r>
            <a:r>
              <a:rPr lang="en-US" sz="1400">
                <a:solidFill>
                  <a:srgbClr val="4A8DCB"/>
                </a:solidFill>
              </a:rPr>
              <a:t> Sample Sources와 HOST Simulator에 load한 UGC File은</a:t>
            </a:r>
            <a:endParaRPr sz="1400">
              <a:solidFill>
                <a:srgbClr val="4A8DCB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lang="en-US" sz="1400">
                <a:solidFill>
                  <a:srgbClr val="4A8DCB"/>
                </a:solidFill>
              </a:rPr>
              <a:t>      동일해야 한다</a:t>
            </a:r>
            <a:endParaRPr sz="1400">
              <a:solidFill>
                <a:srgbClr val="4A8DCB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443" name="Google Shape;443;p26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4-4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4A8DCB"/>
                </a:solidFill>
              </a:rPr>
              <a:t>HOST Simulator에 UGC File Load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br>
              <a:rPr lang="en-US" sz="1400"/>
            </a:br>
            <a:r>
              <a:rPr lang="en-US" sz="1400"/>
              <a:t>    - Connection -&gt; Configuration -&gt; UbiGEM Configuration</a:t>
            </a:r>
            <a:br>
              <a:rPr lang="en-US" sz="1400"/>
            </a:br>
            <a:r>
              <a:rPr lang="en-US" sz="1400"/>
              <a:t>      -&gt; UGC File -&gt;       -&gt; UGC File UpLoad -&gt; Save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/>
              <a:t>    </a:t>
            </a:r>
            <a:r>
              <a:rPr lang="en-US" sz="1100">
                <a:solidFill>
                  <a:srgbClr val="4A8DCB"/>
                </a:solidFill>
              </a:rPr>
              <a:t>*</a:t>
            </a:r>
            <a:r>
              <a:rPr lang="en-US" sz="1400">
                <a:solidFill>
                  <a:srgbClr val="4A8DCB"/>
                </a:solidFill>
              </a:rPr>
              <a:t> Sample Sources와 HOST Simulator에 load한 UGC File은</a:t>
            </a:r>
            <a:endParaRPr sz="1400">
              <a:solidFill>
                <a:srgbClr val="4A8DCB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A8DCB"/>
                </a:solidFill>
              </a:rPr>
              <a:t>      동일해야 한다</a:t>
            </a:r>
            <a:endParaRPr sz="1400">
              <a:solidFill>
                <a:srgbClr val="4A8DCB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/>
          </a:p>
        </p:txBody>
      </p:sp>
      <p:sp>
        <p:nvSpPr>
          <p:cNvPr id="444" name="Google Shape;444;p26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HOST Simulator 사용법</a:t>
            </a:r>
            <a:endParaRPr/>
          </a:p>
        </p:txBody>
      </p:sp>
      <p:pic>
        <p:nvPicPr>
          <p:cNvPr id="445" name="Google Shape;4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164" y="4295037"/>
            <a:ext cx="3017167" cy="733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6247" y="4295037"/>
            <a:ext cx="5772391" cy="1327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3354" y="2421239"/>
            <a:ext cx="266722" cy="308397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6"/>
          <p:cNvSpPr/>
          <p:nvPr/>
        </p:nvSpPr>
        <p:spPr>
          <a:xfrm>
            <a:off x="7858125" y="5013164"/>
            <a:ext cx="1114425" cy="166673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9" name="Google Shape;449;p26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04.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4-5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None/>
            </a:pPr>
            <a:r>
              <a:rPr b="1" lang="en-US" sz="1400">
                <a:solidFill>
                  <a:srgbClr val="4A8DCB"/>
                </a:solidFill>
              </a:rPr>
              <a:t>Sample Sources Connect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br>
              <a:rPr lang="en-US" sz="1400"/>
            </a:br>
            <a:r>
              <a:rPr lang="en-US" sz="1400"/>
              <a:t>  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- Driver -&gt; Initialize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- Driver -&gt; Start</a:t>
            </a:r>
            <a:endParaRPr/>
          </a:p>
        </p:txBody>
      </p:sp>
      <p:sp>
        <p:nvSpPr>
          <p:cNvPr id="456" name="Google Shape;456;p27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4A8DCB"/>
                </a:solidFill>
                <a:latin typeface="Overlock"/>
                <a:ea typeface="Overlock"/>
                <a:cs typeface="Overlock"/>
                <a:sym typeface="Overlock"/>
              </a:rPr>
              <a:t>4-6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4A8DC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4A8DCB"/>
                </a:solidFill>
              </a:rPr>
              <a:t>HOST Simulator Connect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br>
              <a:rPr lang="en-US" sz="1400"/>
            </a:br>
            <a:r>
              <a:rPr lang="en-US" sz="1400"/>
              <a:t>    - Connection -&gt; Open Connection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/>
          </a:p>
        </p:txBody>
      </p:sp>
      <p:sp>
        <p:nvSpPr>
          <p:cNvPr id="457" name="Google Shape;457;p27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HOST Simulator 사용법</a:t>
            </a:r>
            <a:endParaRPr/>
          </a:p>
        </p:txBody>
      </p:sp>
      <p:pic>
        <p:nvPicPr>
          <p:cNvPr id="458" name="Google Shape;458;p27"/>
          <p:cNvPicPr preferRelativeResize="0"/>
          <p:nvPr/>
        </p:nvPicPr>
        <p:blipFill rotWithShape="1">
          <a:blip r:embed="rId3">
            <a:alphaModFix/>
          </a:blip>
          <a:srcRect b="10612" l="3093" r="0" t="0"/>
          <a:stretch/>
        </p:blipFill>
        <p:spPr>
          <a:xfrm>
            <a:off x="455194" y="2246143"/>
            <a:ext cx="1695451" cy="91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427" y="3938948"/>
            <a:ext cx="5573777" cy="502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5194" y="5127245"/>
            <a:ext cx="4925112" cy="49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3915" y="2618953"/>
            <a:ext cx="2595989" cy="131999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7"/>
          <p:cNvSpPr/>
          <p:nvPr/>
        </p:nvSpPr>
        <p:spPr>
          <a:xfrm>
            <a:off x="8086715" y="2704437"/>
            <a:ext cx="523874" cy="347549"/>
          </a:xfrm>
          <a:prstGeom prst="rect">
            <a:avLst/>
          </a:prstGeom>
          <a:solidFill>
            <a:srgbClr val="1A20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3" name="Google Shape;463;p27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04.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8"/>
          <p:cNvSpPr txBox="1"/>
          <p:nvPr>
            <p:ph idx="1" type="body"/>
          </p:nvPr>
        </p:nvSpPr>
        <p:spPr>
          <a:xfrm>
            <a:off x="284480" y="1011677"/>
            <a:ext cx="5701274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470" name="Google Shape;470;p28"/>
          <p:cNvSpPr txBox="1"/>
          <p:nvPr>
            <p:ph idx="2" type="body"/>
          </p:nvPr>
        </p:nvSpPr>
        <p:spPr>
          <a:xfrm>
            <a:off x="6206247" y="1018163"/>
            <a:ext cx="5772393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/>
          </a:p>
        </p:txBody>
      </p:sp>
      <p:sp>
        <p:nvSpPr>
          <p:cNvPr id="471" name="Google Shape;471;p28"/>
          <p:cNvSpPr txBox="1"/>
          <p:nvPr>
            <p:ph type="title"/>
          </p:nvPr>
        </p:nvSpPr>
        <p:spPr>
          <a:xfrm>
            <a:off x="923635" y="310001"/>
            <a:ext cx="11055003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UbiGEM HOST Simulator 사용법</a:t>
            </a:r>
            <a:endParaRPr/>
          </a:p>
        </p:txBody>
      </p:sp>
      <p:pic>
        <p:nvPicPr>
          <p:cNvPr id="472" name="Google Shape;4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0479" y="1084832"/>
            <a:ext cx="5444075" cy="5400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059" y="1037207"/>
            <a:ext cx="5654102" cy="200091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8"/>
          <p:cNvSpPr txBox="1"/>
          <p:nvPr/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04.</a:t>
            </a:r>
            <a:endParaRPr sz="24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/>
          <p:nvPr>
            <p:ph idx="1" type="body"/>
          </p:nvPr>
        </p:nvSpPr>
        <p:spPr>
          <a:xfrm>
            <a:off x="1773966" y="1242947"/>
            <a:ext cx="1640574" cy="11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7200"/>
              <a:buNone/>
            </a:pPr>
            <a:r>
              <a:rPr lang="en-US"/>
              <a:t>05</a:t>
            </a:r>
            <a:endParaRPr/>
          </a:p>
        </p:txBody>
      </p:sp>
      <p:sp>
        <p:nvSpPr>
          <p:cNvPr id="481" name="Google Shape;481;p29"/>
          <p:cNvSpPr txBox="1"/>
          <p:nvPr>
            <p:ph idx="2" type="body"/>
          </p:nvPr>
        </p:nvSpPr>
        <p:spPr>
          <a:xfrm>
            <a:off x="3136105" y="3573560"/>
            <a:ext cx="712549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LGIT 대응 사양서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작성법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0"/>
          <p:cNvSpPr txBox="1"/>
          <p:nvPr>
            <p:ph type="title"/>
          </p:nvPr>
        </p:nvSpPr>
        <p:spPr>
          <a:xfrm>
            <a:off x="923635" y="310001"/>
            <a:ext cx="10016892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LGIT 대응 사양서 작성법</a:t>
            </a:r>
            <a:endParaRPr/>
          </a:p>
        </p:txBody>
      </p:sp>
      <p:pic>
        <p:nvPicPr>
          <p:cNvPr id="488" name="Google Shape;488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163" y="4480902"/>
            <a:ext cx="6267362" cy="2067096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0"/>
          <p:cNvSpPr txBox="1"/>
          <p:nvPr>
            <p:ph idx="2" type="body"/>
          </p:nvPr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05.</a:t>
            </a:r>
            <a:endParaRPr/>
          </a:p>
        </p:txBody>
      </p:sp>
      <p:pic>
        <p:nvPicPr>
          <p:cNvPr id="490" name="Google Shape;49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478" y="2380383"/>
            <a:ext cx="11694160" cy="783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478" y="3189910"/>
            <a:ext cx="11694160" cy="520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4478" y="3772290"/>
            <a:ext cx="11694160" cy="56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4163" y="911375"/>
            <a:ext cx="11694160" cy="138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0"/>
          <p:cNvSpPr/>
          <p:nvPr/>
        </p:nvSpPr>
        <p:spPr>
          <a:xfrm>
            <a:off x="7023797" y="865570"/>
            <a:ext cx="1115367" cy="1488292"/>
          </a:xfrm>
          <a:prstGeom prst="rect">
            <a:avLst/>
          </a:prstGeom>
          <a:noFill/>
          <a:ln cap="flat" cmpd="sng" w="41275">
            <a:solidFill>
              <a:srgbClr val="4A8DC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1197428" y="2353862"/>
            <a:ext cx="1115367" cy="836048"/>
          </a:xfrm>
          <a:prstGeom prst="rect">
            <a:avLst/>
          </a:prstGeom>
          <a:noFill/>
          <a:ln cap="flat" cmpd="sng" w="41275">
            <a:solidFill>
              <a:srgbClr val="4A8DC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6" name="Google Shape;496;p30"/>
          <p:cNvSpPr/>
          <p:nvPr/>
        </p:nvSpPr>
        <p:spPr>
          <a:xfrm>
            <a:off x="6506305" y="3189557"/>
            <a:ext cx="748605" cy="582733"/>
          </a:xfrm>
          <a:prstGeom prst="rect">
            <a:avLst/>
          </a:prstGeom>
          <a:noFill/>
          <a:ln cap="flat" cmpd="sng" w="41275">
            <a:solidFill>
              <a:srgbClr val="4A8DC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7" name="Google Shape;497;p30"/>
          <p:cNvSpPr/>
          <p:nvPr/>
        </p:nvSpPr>
        <p:spPr>
          <a:xfrm>
            <a:off x="823125" y="3757017"/>
            <a:ext cx="748605" cy="582733"/>
          </a:xfrm>
          <a:prstGeom prst="rect">
            <a:avLst/>
          </a:prstGeom>
          <a:noFill/>
          <a:ln cap="flat" cmpd="sng" w="41275">
            <a:solidFill>
              <a:srgbClr val="4A8DC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8" name="Google Shape;498;p30"/>
          <p:cNvSpPr/>
          <p:nvPr/>
        </p:nvSpPr>
        <p:spPr>
          <a:xfrm>
            <a:off x="254019" y="4415303"/>
            <a:ext cx="6377893" cy="2216609"/>
          </a:xfrm>
          <a:prstGeom prst="rect">
            <a:avLst/>
          </a:prstGeom>
          <a:noFill/>
          <a:ln cap="flat" cmpd="sng" w="41275">
            <a:solidFill>
              <a:srgbClr val="4A8DC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 txBox="1"/>
          <p:nvPr>
            <p:ph idx="1" type="body"/>
          </p:nvPr>
        </p:nvSpPr>
        <p:spPr>
          <a:xfrm>
            <a:off x="1773966" y="1242947"/>
            <a:ext cx="1640574" cy="11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7200"/>
              <a:buNone/>
            </a:pPr>
            <a:r>
              <a:rPr lang="en-US"/>
              <a:t>06</a:t>
            </a:r>
            <a:endParaRPr/>
          </a:p>
        </p:txBody>
      </p:sp>
      <p:sp>
        <p:nvSpPr>
          <p:cNvPr id="505" name="Google Shape;505;p31"/>
          <p:cNvSpPr txBox="1"/>
          <p:nvPr>
            <p:ph idx="2" type="body"/>
          </p:nvPr>
        </p:nvSpPr>
        <p:spPr>
          <a:xfrm>
            <a:off x="3136105" y="3573560"/>
            <a:ext cx="7125495" cy="140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개발 Tool 별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Sample Source 설명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2"/>
          <p:cNvSpPr txBox="1"/>
          <p:nvPr>
            <p:ph type="title"/>
          </p:nvPr>
        </p:nvSpPr>
        <p:spPr>
          <a:xfrm>
            <a:off x="923635" y="310001"/>
            <a:ext cx="10016892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b="1" lang="en-US"/>
              <a:t>개발 Tool별 Sample Source 설명</a:t>
            </a:r>
            <a:endParaRPr/>
          </a:p>
        </p:txBody>
      </p:sp>
      <p:sp>
        <p:nvSpPr>
          <p:cNvPr id="512" name="Google Shape;512;p32"/>
          <p:cNvSpPr txBox="1"/>
          <p:nvPr>
            <p:ph idx="1" type="body"/>
          </p:nvPr>
        </p:nvSpPr>
        <p:spPr>
          <a:xfrm>
            <a:off x="284480" y="1011677"/>
            <a:ext cx="11694160" cy="553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내문서 -&gt; UbiSam -&gt; UbiGEM -&gt; Samples -&gt; Ubisam.GEM.Sample.CSharp -&gt; UbiSam.GEM.Sample.CSharp.sln(c# file)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Control State : Offline / Online Local / Online Remote 상태 테스트 진행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ECV : Select Box 항목을 선택하여 테스트 진행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SV/Dvval : Select Box 항목을 선택하여 Set 테스트 진행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CE : Select Box 항목을 선택하여 Report 테스트 진행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Process State : 1(INIT), 2(IDLE), 3(SETUP), 4(READY), 5(EXECUTING), 6(PAUSE) </a:t>
            </a:r>
            <a:br>
              <a:rPr lang="en-US"/>
            </a:br>
            <a:r>
              <a:rPr lang="en-US"/>
              <a:t>                    =&gt; TextBox에 숫자를 입력하고 Change하면, 해당 숫자와 관련된 상태로 변경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Alarm</a:t>
            </a:r>
            <a:br>
              <a:rPr lang="en-US"/>
            </a:br>
            <a:r>
              <a:rPr lang="en-US"/>
              <a:t>- Alarm Set : TextBox의 내용으로 알람을 세팅함</a:t>
            </a:r>
            <a:br>
              <a:rPr lang="en-US"/>
            </a:br>
            <a:r>
              <a:rPr lang="en-US"/>
              <a:t>- Alarm Clear : 알람 초기화 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Terminal Message : TextBox에는 TID를 기입 / 메시지 기입 후, 전송 테스트 진행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Process Program : 파일 저장용(데이터를 알아보기 힘듦)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Formatted Process Program : 데이터를 알아보기 쉬움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Etc</a:t>
            </a:r>
            <a:br>
              <a:rPr lang="en-US"/>
            </a:br>
            <a:r>
              <a:rPr lang="en-US"/>
              <a:t>- Time Request : Host시간을 가져와서 장비시간과 세팅하라고 알려줌</a:t>
            </a:r>
            <a:br>
              <a:rPr lang="en-US"/>
            </a:br>
            <a:r>
              <a:rPr lang="en-US"/>
              <a:t>- Loopback : 같은 데이터가 잘 가는지 확인 테스트 진행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ACK : ‘1’로 Apply하면, Host의 Control State가 변경이 되지 않음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Clear Log : 로그 초기화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-"/>
            </a:pPr>
            <a:r>
              <a:rPr lang="en-US"/>
              <a:t>Close : 창 닫기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2"/>
          <p:cNvSpPr txBox="1"/>
          <p:nvPr>
            <p:ph idx="2" type="body"/>
          </p:nvPr>
        </p:nvSpPr>
        <p:spPr>
          <a:xfrm>
            <a:off x="284480" y="310002"/>
            <a:ext cx="639156" cy="3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06.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3"/>
          <p:cNvSpPr txBox="1"/>
          <p:nvPr>
            <p:ph idx="1" type="body"/>
          </p:nvPr>
        </p:nvSpPr>
        <p:spPr>
          <a:xfrm>
            <a:off x="1773966" y="1242947"/>
            <a:ext cx="1640574" cy="11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7200"/>
              <a:buNone/>
            </a:pPr>
            <a:r>
              <a:rPr lang="en-US"/>
              <a:t>07</a:t>
            </a:r>
            <a:endParaRPr/>
          </a:p>
        </p:txBody>
      </p:sp>
      <p:sp>
        <p:nvSpPr>
          <p:cNvPr id="520" name="Google Shape;520;p33"/>
          <p:cNvSpPr txBox="1"/>
          <p:nvPr>
            <p:ph idx="2" type="body"/>
          </p:nvPr>
        </p:nvSpPr>
        <p:spPr>
          <a:xfrm>
            <a:off x="3136105" y="4100944"/>
            <a:ext cx="7125495" cy="879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A8DCB"/>
              </a:buClr>
              <a:buSzPts val="3600"/>
              <a:buNone/>
            </a:pPr>
            <a:r>
              <a:rPr b="1" lang="en-US"/>
              <a:t>QnA</a:t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4"/>
          <p:cNvSpPr txBox="1"/>
          <p:nvPr>
            <p:ph idx="1" type="body"/>
          </p:nvPr>
        </p:nvSpPr>
        <p:spPr>
          <a:xfrm>
            <a:off x="8666240" y="3703695"/>
            <a:ext cx="3107015" cy="204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/>
              <a:t>연구소</a:t>
            </a:r>
            <a:endParaRPr sz="100"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/>
              <a:t>서혜영 대리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/>
              <a:t>010-4674-1301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/>
              <a:t>seohyeyeong@ubisam.com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2023-01-02T02:16:57Z</dcterms:created>
  <dc:creator>admin</dc:creator>
</cp:coreProperties>
</file>